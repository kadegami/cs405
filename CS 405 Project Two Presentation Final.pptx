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5"/>
  </p:notesMasterIdLst>
  <p:sldIdLst>
    <p:sldId id="256" r:id="rId5"/>
    <p:sldId id="257" r:id="rId6"/>
    <p:sldId id="258" r:id="rId7"/>
    <p:sldId id="259" r:id="rId8"/>
    <p:sldId id="260" r:id="rId9"/>
    <p:sldId id="261" r:id="rId10"/>
    <p:sldId id="262" r:id="rId11"/>
    <p:sldId id="263" r:id="rId12"/>
    <p:sldId id="270" r:id="rId13"/>
    <p:sldId id="271" r:id="rId14"/>
    <p:sldId id="272" r:id="rId15"/>
    <p:sldId id="273" r:id="rId16"/>
    <p:sldId id="274" r:id="rId17"/>
    <p:sldId id="264" r:id="rId18"/>
    <p:sldId id="265" r:id="rId19"/>
    <p:sldId id="275" r:id="rId20"/>
    <p:sldId id="266" r:id="rId21"/>
    <p:sldId id="267" r:id="rId22"/>
    <p:sldId id="268" r:id="rId23"/>
    <p:sldId id="269" r:id="rId24"/>
  </p:sldIdLst>
  <p:sldSz cx="12192000" cy="6858000"/>
  <p:notesSz cx="6858000" cy="9144000"/>
  <p:embeddedFontLst>
    <p:embeddedFont>
      <p:font typeface="Century Gothic" panose="020B0502020202020204" pitchFamily="34" charset="0"/>
      <p:regular r:id="rId26"/>
      <p:bold r:id="rId27"/>
      <p:italic r:id="rId28"/>
      <p:boldItalic r:id="rId29"/>
    </p:embeddedFont>
  </p:embeddedFontLst>
  <p:custDataLst>
    <p:tags r:id="rId30"/>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1"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D93D79-571D-F1FC-8C58-42D6B8CAFB07}" v="3" dt="2026-01-30T18:37:08.961"/>
    <p1510:client id="{A4ABB9CB-FED9-F3CE-E808-C8CA93C9F8EA}" v="503" dt="2026-01-30T03:59:07.859"/>
    <p1510:client id="{C03DEA6E-3D72-690E-1EBD-6312D3EA009C}" v="44" dt="2026-01-30T18:43:24.726"/>
    <p1510:client id="{C374745E-7002-436B-0DFA-81F0EC4C96B4}" v="341" dt="2026-01-29T03:42:31.747"/>
  </p1510:revLst>
</p1510:revInfo>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132" y="6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1.fntdata"/><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4.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3.fntdata"/><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customschemas.google.com/relationships/presentationmetadata" Target="meta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2.fntdata"/><Relationship Id="rId30" Type="http://schemas.openxmlformats.org/officeDocument/2006/relationships/tags" Target="tags/tag1.xml"/><Relationship Id="rId35" Type="http://schemas.openxmlformats.org/officeDocument/2006/relationships/tableStyles" Target="tableStyle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xml"/><Relationship Id="rId5" Type="http://schemas.openxmlformats.org/officeDocument/2006/relationships/image" Target="../media/image5.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3.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8" Type="http://schemas.openxmlformats.org/officeDocument/2006/relationships/hyperlink" Target="https://www.peerlyst.com/posts/nhs-healthcare-defense-in-depth-shaun-van-niekerk" TargetMode="External"/><Relationship Id="rId13" Type="http://schemas.openxmlformats.org/officeDocument/2006/relationships/hyperlink" Target="https://owasp.org/www-project-web-security-testing-guide/" TargetMode="External"/><Relationship Id="rId3" Type="http://schemas.openxmlformats.org/officeDocument/2006/relationships/notesSlide" Target="../notesSlides/notesSlide14.xml"/><Relationship Id="rId7" Type="http://schemas.openxmlformats.org/officeDocument/2006/relationships/hyperlink" Target="https://cppcheck.sourceforge.io/" TargetMode="External"/><Relationship Id="rId12" Type="http://schemas.openxmlformats.org/officeDocument/2006/relationships/hyperlink" Target="https://www.iso.org/isoiec-27001-information-security.html" TargetMode="External"/><Relationship Id="rId2" Type="http://schemas.openxmlformats.org/officeDocument/2006/relationships/slideLayout" Target="../slideLayouts/slideLayout2.xml"/><Relationship Id="rId1" Type="http://schemas.openxmlformats.org/officeDocument/2006/relationships/tags" Target="../tags/tag15.xml"/><Relationship Id="rId6" Type="http://schemas.openxmlformats.org/officeDocument/2006/relationships/hyperlink" Target="https://www.sonarsource.com/products/sonarqube/" TargetMode="External"/><Relationship Id="rId11" Type="http://schemas.openxmlformats.org/officeDocument/2006/relationships/hyperlink" Target="https://cloud.google.com/beyondcorp" TargetMode="External"/><Relationship Id="rId5" Type="http://schemas.openxmlformats.org/officeDocument/2006/relationships/hyperlink" Target="https://owasp.org/www-project-top-ten/" TargetMode="External"/><Relationship Id="rId10" Type="http://schemas.openxmlformats.org/officeDocument/2006/relationships/hyperlink" Target="https://www.microsoft.com/en-us/securityengineering/sdl/" TargetMode="External"/><Relationship Id="rId4" Type="http://schemas.openxmlformats.org/officeDocument/2006/relationships/hyperlink" Target="https://wiki.sei.cmu.edu/confluence/display/cplusplus" TargetMode="External"/><Relationship Id="rId9" Type="http://schemas.openxmlformats.org/officeDocument/2006/relationships/hyperlink" Target="https://pages.nist.gov/800-63-3/" TargetMode="External"/><Relationship Id="rId1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a:t>Green Pace</a:t>
            </a:r>
            <a:endParaRPr/>
          </a:p>
        </p:txBody>
      </p:sp>
      <p:sp>
        <p:nvSpPr>
          <p:cNvPr id="145" name="Google Shape;145;p1"/>
          <p:cNvSpPr txBox="1">
            <a:spLocks noGrp="1"/>
          </p:cNvSpPr>
          <p:nvPr>
            <p:ph type="subTitle" idx="1"/>
          </p:nvPr>
        </p:nvSpPr>
        <p:spPr>
          <a:xfrm>
            <a:off x="1371600" y="3632200"/>
            <a:ext cx="9448800" cy="1561592"/>
          </a:xfrm>
          <a:prstGeom prst="rect">
            <a:avLst/>
          </a:prstGeom>
          <a:noFill/>
          <a:ln>
            <a:noFill/>
          </a:ln>
        </p:spPr>
        <p:txBody>
          <a:bodyPr spcFirstLastPara="1" wrap="square" lIns="91425" tIns="45700" rIns="91425" bIns="45700" anchor="t" anchorCtr="0">
            <a:normAutofit/>
          </a:bodyPr>
          <a:lstStyle/>
          <a:p>
            <a:pPr marL="0" lvl="0" indent="0" algn="l" rtl="0">
              <a:lnSpc>
                <a:spcPct val="70000"/>
              </a:lnSpc>
              <a:spcBef>
                <a:spcPts val="0"/>
              </a:spcBef>
              <a:spcAft>
                <a:spcPts val="0"/>
              </a:spcAft>
              <a:buClr>
                <a:schemeClr val="lt1"/>
              </a:buClr>
              <a:buSzPts val="1850"/>
              <a:buNone/>
            </a:pPr>
            <a:r>
              <a:rPr lang="en-US" sz="1850" dirty="0"/>
              <a:t>Security Policy Presentation</a:t>
            </a:r>
            <a:endParaRPr dirty="0"/>
          </a:p>
          <a:p>
            <a:pPr marL="0" indent="0">
              <a:lnSpc>
                <a:spcPct val="70000"/>
              </a:lnSpc>
              <a:buSzPts val="1850"/>
            </a:pPr>
            <a:r>
              <a:rPr lang="en-US" sz="1850" dirty="0"/>
              <a:t>Developer: Karina Denise Washington</a:t>
            </a:r>
            <a:endParaRPr lang="en-US" sz="1850" i="1" dirty="0"/>
          </a:p>
          <a:p>
            <a:pPr marL="0" lvl="0" indent="0" algn="l" rtl="0">
              <a:lnSpc>
                <a:spcPct val="70000"/>
              </a:lnSpc>
              <a:spcBef>
                <a:spcPts val="1000"/>
              </a:spcBef>
              <a:spcAft>
                <a:spcPts val="0"/>
              </a:spcAft>
              <a:buClr>
                <a:schemeClr val="lt1"/>
              </a:buClr>
              <a:buSzPts val="1850"/>
              <a:buNone/>
            </a:pPr>
            <a:endParaRPr sz="1850" i="1"/>
          </a:p>
          <a:p>
            <a:pPr marL="0" lvl="0" indent="0" algn="l" rtl="0">
              <a:lnSpc>
                <a:spcPct val="70000"/>
              </a:lnSpc>
              <a:spcBef>
                <a:spcPts val="1000"/>
              </a:spcBef>
              <a:spcAft>
                <a:spcPts val="0"/>
              </a:spcAft>
              <a:buSzPts val="1850"/>
              <a:buNone/>
            </a:pPr>
            <a:endParaRPr lang="en-US" dirty="0"/>
          </a:p>
        </p:txBody>
      </p:sp>
      <p:pic>
        <p:nvPicPr>
          <p:cNvPr id="146" name="Google Shape;146;p1" descr="Green Pace logo"/>
          <p:cNvPicPr preferRelativeResize="0"/>
          <p:nvPr/>
        </p:nvPicPr>
        <p:blipFill>
          <a:blip r:embed="rId4">
            <a:alphaModFix/>
          </a:blip>
          <a:stretch>
            <a:fillRect/>
          </a:stretch>
        </p:blipFill>
        <p:spPr>
          <a:xfrm>
            <a:off x="7440774" y="659854"/>
            <a:ext cx="2921424" cy="3786772"/>
          </a:xfrm>
          <a:prstGeom prst="rect">
            <a:avLst/>
          </a:prstGeom>
          <a:noFill/>
          <a:ln>
            <a:noFill/>
          </a:ln>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3350004" y="114226"/>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OVERVIEW: DEFENSE IN DEPTH</a:t>
            </a:r>
            <a:endParaRPr/>
          </a:p>
        </p:txBody>
      </p:sp>
      <p:sp>
        <p:nvSpPr>
          <p:cNvPr id="152" name="Google Shape;152;p3"/>
          <p:cNvSpPr txBox="1">
            <a:spLocks noGrp="1"/>
          </p:cNvSpPr>
          <p:nvPr>
            <p:ph type="body" idx="1"/>
          </p:nvPr>
        </p:nvSpPr>
        <p:spPr>
          <a:xfrm>
            <a:off x="112552" y="1152928"/>
            <a:ext cx="7772397" cy="5687938"/>
          </a:xfrm>
          <a:prstGeom prst="rect">
            <a:avLst/>
          </a:prstGeom>
          <a:noFill/>
          <a:ln>
            <a:noFill/>
          </a:ln>
        </p:spPr>
        <p:txBody>
          <a:bodyPr spcFirstLastPara="1" wrap="square" lIns="91425" tIns="45700" rIns="91425" bIns="45700" anchor="t" anchorCtr="0">
            <a:normAutofit lnSpcReduction="10000"/>
          </a:bodyPr>
          <a:lstStyle/>
          <a:p>
            <a:pPr>
              <a:buNone/>
            </a:pPr>
            <a:r>
              <a:rPr lang="en-US"/>
              <a:t>Green Pace’s security policy is built on the defense-in-depth strategy, which assumes that no single security control is enough to protect a system on its own.</a:t>
            </a:r>
          </a:p>
          <a:p>
            <a:pPr>
              <a:buNone/>
            </a:pPr>
            <a:r>
              <a:rPr lang="en-US"/>
              <a:t>Defense in depth uses multiple layers of security so that if one layer fails, another layer can still protect the system. This approach reduces the risk of a full system compromise and limits the damage caused by attacks.</a:t>
            </a:r>
          </a:p>
          <a:p>
            <a:pPr>
              <a:buNone/>
            </a:pPr>
            <a:r>
              <a:rPr lang="en-US"/>
              <a:t>The layered model includes protection at the physical, network, host, application, and data levels. At Green Pace, this strategy is enforced through secure coding standards, automated testing, encryption, monitoring, and access controls.</a:t>
            </a:r>
          </a:p>
          <a:p>
            <a:pPr>
              <a:buNone/>
            </a:pPr>
            <a:r>
              <a:rPr lang="en-US"/>
              <a:t>By applying security at every stage of development and deployment, Green Pace ensures that vulnerabilities are detected early and mitigated before they can be exploited.</a:t>
            </a:r>
          </a:p>
          <a:p>
            <a:pPr marL="0" lvl="0" indent="0" algn="l">
              <a:lnSpc>
                <a:spcPct val="90000"/>
              </a:lnSpc>
              <a:spcAft>
                <a:spcPts val="0"/>
              </a:spcAft>
              <a:buSzPts val="2200"/>
              <a:buNone/>
            </a:pPr>
            <a:endParaRPr lang="en-US" dirty="0"/>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4">
            <a:alphaModFix/>
          </a:blip>
          <a:srcRect/>
          <a:stretch/>
        </p:blipFill>
        <p:spPr>
          <a:xfrm>
            <a:off x="7893431" y="2098383"/>
            <a:ext cx="4069387" cy="2986261"/>
          </a:xfrm>
          <a:prstGeom prst="rect">
            <a:avLst/>
          </a:prstGeom>
          <a:noFill/>
          <a:ln>
            <a:noFill/>
          </a:ln>
        </p:spPr>
      </p:pic>
      <p:pic>
        <p:nvPicPr>
          <p:cNvPr id="154" name="Google Shape;154;p3"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2909582" y="2373"/>
            <a:ext cx="8610600" cy="810662"/>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THREATS MATRIX</a:t>
            </a:r>
            <a:endParaRPr/>
          </a:p>
        </p:txBody>
      </p:sp>
      <p:sp>
        <p:nvSpPr>
          <p:cNvPr id="160" name="Google Shape;160;p4"/>
          <p:cNvSpPr txBox="1">
            <a:spLocks noGrp="1"/>
          </p:cNvSpPr>
          <p:nvPr>
            <p:ph type="body" idx="1"/>
          </p:nvPr>
        </p:nvSpPr>
        <p:spPr>
          <a:xfrm>
            <a:off x="14683" y="286055"/>
            <a:ext cx="4114961" cy="6547890"/>
          </a:xfrm>
          <a:prstGeom prst="rect">
            <a:avLst/>
          </a:prstGeom>
          <a:noFill/>
          <a:ln>
            <a:noFill/>
          </a:ln>
        </p:spPr>
        <p:txBody>
          <a:bodyPr spcFirstLastPara="1" wrap="square" lIns="91425" tIns="45700" rIns="91425" bIns="45700" anchor="t" anchorCtr="0">
            <a:normAutofit fontScale="70000" lnSpcReduction="20000"/>
          </a:bodyPr>
          <a:lstStyle/>
          <a:p>
            <a:pPr>
              <a:buNone/>
            </a:pPr>
            <a:r>
              <a:rPr lang="en-US" sz="2000" dirty="0">
                <a:solidFill>
                  <a:srgbClr val="FFFFFF"/>
                </a:solidFill>
              </a:rPr>
              <a:t>Green Pace develops software for environmentally responsible entrepreneurs, which means our systems store sensitive business, financial, and user data. As the company grows, so does the attack surface. A single security control is no longer enough to protect against modern cyber threats.</a:t>
            </a:r>
            <a:endParaRPr lang="en-US" dirty="0"/>
          </a:p>
          <a:p>
            <a:pPr>
              <a:buNone/>
            </a:pPr>
            <a:r>
              <a:rPr lang="en-US" sz="2000" dirty="0">
                <a:solidFill>
                  <a:srgbClr val="FFFFFF"/>
                </a:solidFill>
              </a:rPr>
              <a:t>This is why Green Pace adopted a </a:t>
            </a:r>
            <a:r>
              <a:rPr lang="en-US" sz="2000" b="1" dirty="0">
                <a:solidFill>
                  <a:srgbClr val="FFFFFF"/>
                </a:solidFill>
              </a:rPr>
              <a:t>defense-in-depth security strategy</a:t>
            </a:r>
            <a:r>
              <a:rPr lang="en-US" sz="2000" dirty="0">
                <a:solidFill>
                  <a:srgbClr val="FFFFFF"/>
                </a:solidFill>
              </a:rPr>
              <a:t>. Defense in depth uses </a:t>
            </a:r>
            <a:r>
              <a:rPr lang="en-US" sz="2000" b="1" dirty="0">
                <a:solidFill>
                  <a:srgbClr val="FFFFFF"/>
                </a:solidFill>
              </a:rPr>
              <a:t>multiple, layered security controls</a:t>
            </a:r>
            <a:r>
              <a:rPr lang="en-US" sz="2000" dirty="0">
                <a:solidFill>
                  <a:srgbClr val="FFFFFF"/>
                </a:solidFill>
              </a:rPr>
              <a:t> so that if one control fails, another layer still protects the system. Security is not treated as a final step—it is embedded into every phase of development and deployment.</a:t>
            </a:r>
            <a:endParaRPr lang="en-US" dirty="0"/>
          </a:p>
          <a:p>
            <a:pPr>
              <a:buNone/>
            </a:pPr>
            <a:r>
              <a:rPr lang="en-US" sz="2000" dirty="0">
                <a:solidFill>
                  <a:srgbClr val="FFFFFF"/>
                </a:solidFill>
              </a:rPr>
              <a:t>Our policy ensures that security is addressed across all layers:</a:t>
            </a:r>
            <a:endParaRPr lang="en-US" dirty="0"/>
          </a:p>
          <a:p>
            <a:pPr marL="285750" indent="-285750"/>
            <a:r>
              <a:rPr lang="en-US" sz="2000" dirty="0">
                <a:solidFill>
                  <a:srgbClr val="FFFFFF"/>
                </a:solidFill>
              </a:rPr>
              <a:t>Physical security</a:t>
            </a:r>
            <a:endParaRPr lang="en-US" dirty="0"/>
          </a:p>
          <a:p>
            <a:pPr marL="285750" indent="-285750"/>
            <a:r>
              <a:rPr lang="en-US" sz="2000" dirty="0">
                <a:solidFill>
                  <a:srgbClr val="FFFFFF"/>
                </a:solidFill>
              </a:rPr>
              <a:t>Cloud and network security</a:t>
            </a:r>
            <a:endParaRPr lang="en-US" dirty="0"/>
          </a:p>
          <a:p>
            <a:pPr marL="285750" indent="-285750"/>
            <a:r>
              <a:rPr lang="en-US" sz="2000" dirty="0">
                <a:solidFill>
                  <a:srgbClr val="FFFFFF"/>
                </a:solidFill>
              </a:rPr>
              <a:t>Host and endpoint security</a:t>
            </a:r>
            <a:endParaRPr lang="en-US" dirty="0"/>
          </a:p>
          <a:p>
            <a:pPr marL="285750" indent="-285750"/>
            <a:r>
              <a:rPr lang="en-US" sz="2000" dirty="0">
                <a:solidFill>
                  <a:srgbClr val="FFFFFF"/>
                </a:solidFill>
              </a:rPr>
              <a:t>Application security</a:t>
            </a:r>
            <a:endParaRPr lang="en-US" dirty="0"/>
          </a:p>
          <a:p>
            <a:pPr marL="285750" indent="-285750"/>
            <a:r>
              <a:rPr lang="en-US" sz="2000" dirty="0">
                <a:solidFill>
                  <a:srgbClr val="FFFFFF"/>
                </a:solidFill>
              </a:rPr>
              <a:t>Data and asset protection</a:t>
            </a:r>
            <a:endParaRPr lang="en-US" dirty="0"/>
          </a:p>
          <a:p>
            <a:pPr indent="0">
              <a:buNone/>
            </a:pPr>
            <a:r>
              <a:rPr lang="en-US" sz="2000" dirty="0">
                <a:solidFill>
                  <a:srgbClr val="FFFFFF"/>
                </a:solidFill>
              </a:rPr>
              <a:t>By combining secure coding standards, automated testing, encryption, access controls, and monitoring, Green Pace reduces the likelihood that a single vulnerability will result in a full system compromise.</a:t>
            </a:r>
          </a:p>
        </p:txBody>
      </p:sp>
      <p:graphicFrame>
        <p:nvGraphicFramePr>
          <p:cNvPr id="161" name="Google Shape;161;p4" descr="Alt text required"/>
          <p:cNvGraphicFramePr/>
          <p:nvPr>
            <p:extLst>
              <p:ext uri="{D42A27DB-BD31-4B8C-83A1-F6EECF244321}">
                <p14:modId xmlns:p14="http://schemas.microsoft.com/office/powerpoint/2010/main" val="942834038"/>
              </p:ext>
            </p:extLst>
          </p:nvPr>
        </p:nvGraphicFramePr>
        <p:xfrm>
          <a:off x="4129643" y="694500"/>
          <a:ext cx="8013712" cy="5784030"/>
        </p:xfrm>
        <a:graphic>
          <a:graphicData uri="http://schemas.openxmlformats.org/drawingml/2006/table">
            <a:tbl>
              <a:tblPr firstRow="1" firstCol="1">
                <a:noFill/>
                <a:tableStyleId>{802198C4-3087-4945-87E3-76CBB3509B7E}</a:tableStyleId>
              </a:tblPr>
              <a:tblGrid>
                <a:gridCol w="4122238">
                  <a:extLst>
                    <a:ext uri="{9D8B030D-6E8A-4147-A177-3AD203B41FA5}">
                      <a16:colId xmlns:a16="http://schemas.microsoft.com/office/drawing/2014/main" val="20000"/>
                    </a:ext>
                  </a:extLst>
                </a:gridCol>
                <a:gridCol w="3891474">
                  <a:extLst>
                    <a:ext uri="{9D8B030D-6E8A-4147-A177-3AD203B41FA5}">
                      <a16:colId xmlns:a16="http://schemas.microsoft.com/office/drawing/2014/main" val="20001"/>
                    </a:ext>
                  </a:extLst>
                </a:gridCol>
              </a:tblGrid>
              <a:tr h="2512540">
                <a:tc>
                  <a:txBody>
                    <a:bodyPr/>
                    <a:lstStyle/>
                    <a:p>
                      <a:pPr marL="0" marR="0" lvl="0" indent="0" algn="ctr" rtl="0">
                        <a:lnSpc>
                          <a:spcPct val="100000"/>
                        </a:lnSpc>
                        <a:spcBef>
                          <a:spcPts val="0"/>
                        </a:spcBef>
                        <a:spcAft>
                          <a:spcPts val="0"/>
                        </a:spcAft>
                        <a:buClr>
                          <a:srgbClr val="000000"/>
                        </a:buClr>
                        <a:buSzPts val="3600"/>
                        <a:buFont typeface="Arial"/>
                        <a:buNone/>
                      </a:pPr>
                      <a:r>
                        <a:rPr lang="en-US" sz="2000" b="1" u="none" strike="noStrike" cap="none" dirty="0">
                          <a:solidFill>
                            <a:schemeClr val="accent3"/>
                          </a:solidFill>
                        </a:rPr>
                        <a:t>Likely</a:t>
                      </a:r>
                      <a:br>
                        <a:rPr lang="en-US" sz="1800" b="1" u="none" strike="noStrike" cap="none" dirty="0">
                          <a:solidFill>
                            <a:srgbClr val="E9BF35"/>
                          </a:solidFill>
                        </a:rPr>
                      </a:br>
                      <a:endParaRPr sz="1800" b="1" u="none" strike="noStrike" cap="none">
                        <a:solidFill>
                          <a:srgbClr val="E9BF35"/>
                        </a:solidFill>
                      </a:endParaRPr>
                    </a:p>
                    <a:p>
                      <a:pPr lvl="0" algn="ctr">
                        <a:lnSpc>
                          <a:spcPct val="100000"/>
                        </a:lnSpc>
                        <a:spcBef>
                          <a:spcPts val="0"/>
                        </a:spcBef>
                        <a:spcAft>
                          <a:spcPts val="0"/>
                        </a:spcAft>
                        <a:buNone/>
                      </a:pPr>
                      <a:r>
                        <a:rPr lang="en-US" sz="1600" b="1" i="0" u="none" strike="noStrike" cap="none" noProof="0" dirty="0">
                          <a:solidFill>
                            <a:srgbClr val="FF0000"/>
                          </a:solidFill>
                        </a:rPr>
                        <a:t>High probability, moderate impact</a:t>
                      </a:r>
                      <a:endParaRPr lang="en-US" sz="1600" dirty="0"/>
                    </a:p>
                    <a:p>
                      <a:pPr lvl="0" algn="ctr">
                        <a:lnSpc>
                          <a:spcPct val="100000"/>
                        </a:lnSpc>
                        <a:spcBef>
                          <a:spcPts val="0"/>
                        </a:spcBef>
                        <a:spcAft>
                          <a:spcPts val="0"/>
                        </a:spcAft>
                        <a:buNone/>
                      </a:pPr>
                      <a:r>
                        <a:rPr lang="en-US" sz="1600" b="0" i="0" u="none" strike="noStrike" cap="none" noProof="0" dirty="0">
                          <a:solidFill>
                            <a:srgbClr val="FF0000"/>
                          </a:solidFill>
                        </a:rPr>
                        <a:t>Examples:</a:t>
                      </a:r>
                      <a:endParaRPr lang="en-US" sz="1600" dirty="0"/>
                    </a:p>
                    <a:p>
                      <a:pPr marL="285750" lvl="0" indent="-285750" algn="ctr">
                        <a:lnSpc>
                          <a:spcPct val="100000"/>
                        </a:lnSpc>
                        <a:spcBef>
                          <a:spcPts val="0"/>
                        </a:spcBef>
                        <a:spcAft>
                          <a:spcPts val="0"/>
                        </a:spcAft>
                        <a:buFont typeface="Arial"/>
                        <a:buChar char="•"/>
                      </a:pPr>
                      <a:r>
                        <a:rPr lang="en-US" sz="1600" b="0" i="0" u="none" strike="noStrike" cap="none" noProof="0" dirty="0">
                          <a:solidFill>
                            <a:srgbClr val="FF0000"/>
                          </a:solidFill>
                        </a:rPr>
                        <a:t>STD-003-CPP (String Correctness)</a:t>
                      </a:r>
                      <a:endParaRPr lang="en-US" sz="1600" dirty="0"/>
                    </a:p>
                    <a:p>
                      <a:pPr marL="285750" lvl="0" indent="-285750" algn="ctr">
                        <a:lnSpc>
                          <a:spcPct val="100000"/>
                        </a:lnSpc>
                        <a:spcBef>
                          <a:spcPts val="0"/>
                        </a:spcBef>
                        <a:spcAft>
                          <a:spcPts val="0"/>
                        </a:spcAft>
                        <a:buFont typeface="Arial"/>
                        <a:buChar char="•"/>
                      </a:pPr>
                      <a:r>
                        <a:rPr lang="en-US" sz="1600" b="0" i="0" u="none" strike="noStrike" cap="none" noProof="0" dirty="0">
                          <a:solidFill>
                            <a:srgbClr val="FF0000"/>
                          </a:solidFill>
                        </a:rPr>
                        <a:t>STD-006-CPP (Assertions)</a:t>
                      </a:r>
                      <a:endParaRPr lang="en-US" sz="1600" dirty="0"/>
                    </a:p>
                    <a:p>
                      <a:pPr marL="285750" lvl="0" indent="-285750" algn="ctr">
                        <a:lnSpc>
                          <a:spcPct val="100000"/>
                        </a:lnSpc>
                        <a:spcBef>
                          <a:spcPts val="0"/>
                        </a:spcBef>
                        <a:spcAft>
                          <a:spcPts val="0"/>
                        </a:spcAft>
                        <a:buFont typeface="Arial"/>
                        <a:buChar char="•"/>
                      </a:pPr>
                      <a:r>
                        <a:rPr lang="en-US" sz="1600" b="0" i="0" u="none" strike="noStrike" cap="none" noProof="0" dirty="0">
                          <a:solidFill>
                            <a:srgbClr val="FF0000"/>
                          </a:solidFill>
                        </a:rPr>
                        <a:t>STD-009-CPP (Fixed Buffer Input)</a:t>
                      </a:r>
                      <a:endParaRPr lang="en-US" sz="1600" dirty="0"/>
                    </a:p>
                    <a:p>
                      <a:pPr lvl="0" indent="0" algn="ctr">
                        <a:lnSpc>
                          <a:spcPct val="100000"/>
                        </a:lnSpc>
                        <a:spcBef>
                          <a:spcPts val="0"/>
                        </a:spcBef>
                        <a:spcAft>
                          <a:spcPts val="0"/>
                        </a:spcAft>
                        <a:buNone/>
                      </a:pPr>
                      <a:r>
                        <a:rPr lang="en-US" sz="1600" b="1" i="0" u="none" strike="noStrike" cap="none" noProof="0" dirty="0">
                          <a:solidFill>
                            <a:srgbClr val="FF0000"/>
                          </a:solidFill>
                        </a:rPr>
                        <a:t>Why:</a:t>
                      </a:r>
                      <a:br>
                        <a:rPr lang="en-US" sz="1600" b="1" i="0" u="none" strike="noStrike" cap="none" noProof="0" dirty="0">
                          <a:solidFill>
                            <a:srgbClr val="FF0000"/>
                          </a:solidFill>
                        </a:rPr>
                      </a:br>
                      <a:r>
                        <a:rPr lang="en-US" sz="1600" b="1" i="0" u="none" strike="noStrike" cap="none" noProof="0" dirty="0">
                          <a:solidFill>
                            <a:srgbClr val="FF0000"/>
                          </a:solidFill>
                        </a:rPr>
                        <a:t> These issues occur frequently in real code and are commonly introduced by developers. If not detected early, they can lead to crashes or security holes.</a:t>
                      </a:r>
                      <a:endParaRPr lang="en-US" sz="1600"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2400" b="1" u="none" strike="noStrike" cap="none" dirty="0">
                          <a:solidFill>
                            <a:srgbClr val="FFD966"/>
                          </a:solidFill>
                        </a:rPr>
                        <a:t>Priority</a:t>
                      </a:r>
                      <a:endParaRPr lang="en-US" sz="2400" b="1" i="0" u="none" strike="noStrike" cap="none" noProof="0" dirty="0">
                        <a:solidFill>
                          <a:srgbClr val="000000"/>
                        </a:solidFill>
                        <a:latin typeface="Arial"/>
                      </a:endParaRPr>
                    </a:p>
                    <a:p>
                      <a:pPr marL="0" marR="0" lvl="0" indent="0" algn="ctr">
                        <a:lnSpc>
                          <a:spcPct val="100000"/>
                        </a:lnSpc>
                        <a:spcBef>
                          <a:spcPts val="0"/>
                        </a:spcBef>
                        <a:spcAft>
                          <a:spcPts val="0"/>
                        </a:spcAft>
                        <a:buSzPts val="3600"/>
                        <a:buFont typeface="Arial"/>
                        <a:buNone/>
                      </a:pPr>
                      <a:r>
                        <a:rPr lang="en-US" sz="1400" b="1" i="0" u="none" strike="noStrike" cap="none" noProof="0" dirty="0">
                          <a:solidFill>
                            <a:srgbClr val="FF0000"/>
                          </a:solidFill>
                          <a:latin typeface="Arial"/>
                        </a:rPr>
                        <a:t>High likelihood and high impact</a:t>
                      </a:r>
                      <a:endParaRPr lang="en-US" sz="1400" b="0" i="0" u="none" strike="noStrike" cap="none" noProof="0">
                        <a:solidFill>
                          <a:srgbClr val="000000"/>
                        </a:solidFill>
                        <a:latin typeface="Arial"/>
                      </a:endParaRPr>
                    </a:p>
                    <a:p>
                      <a:pPr lvl="0" algn="ctr">
                        <a:lnSpc>
                          <a:spcPct val="100000"/>
                        </a:lnSpc>
                        <a:spcBef>
                          <a:spcPts val="0"/>
                        </a:spcBef>
                        <a:spcAft>
                          <a:spcPts val="0"/>
                        </a:spcAft>
                        <a:buSzPts val="3600"/>
                        <a:buFont typeface="Arial"/>
                        <a:buNone/>
                      </a:pPr>
                      <a:r>
                        <a:rPr lang="en-US" sz="1400" b="1" i="0" u="none" strike="noStrike" cap="none" noProof="0" dirty="0">
                          <a:solidFill>
                            <a:srgbClr val="FF0000"/>
                          </a:solidFill>
                          <a:latin typeface="Arial"/>
                        </a:rPr>
                        <a:t>Examples:</a:t>
                      </a:r>
                      <a:endParaRPr lang="en-US" sz="1400" b="0" i="0" u="none" strike="noStrike" cap="none" noProof="0" dirty="0">
                        <a:solidFill>
                          <a:srgbClr val="000000"/>
                        </a:solidFill>
                        <a:latin typeface="Arial"/>
                      </a:endParaRPr>
                    </a:p>
                    <a:p>
                      <a:pPr marL="285750" lvl="0" indent="-285750" algn="ctr">
                        <a:lnSpc>
                          <a:spcPct val="100000"/>
                        </a:lnSpc>
                        <a:spcBef>
                          <a:spcPts val="0"/>
                        </a:spcBef>
                        <a:spcAft>
                          <a:spcPts val="0"/>
                        </a:spcAft>
                        <a:buClr>
                          <a:srgbClr val="000000"/>
                        </a:buClr>
                        <a:buSzPts val="3600"/>
                        <a:buFont typeface="Arial,Sans-Serif"/>
                        <a:buChar char="•"/>
                      </a:pPr>
                      <a:r>
                        <a:rPr lang="en-US" sz="1400" b="1" i="0" u="none" strike="noStrike" cap="none" noProof="0" dirty="0">
                          <a:solidFill>
                            <a:srgbClr val="FF0000"/>
                          </a:solidFill>
                          <a:latin typeface="Arial"/>
                        </a:rPr>
                        <a:t>STD-004-CPP (SQL Injection)</a:t>
                      </a:r>
                      <a:endParaRPr lang="en-US" sz="1400" b="0" i="0" u="none" strike="noStrike" cap="none" noProof="0" dirty="0">
                        <a:solidFill>
                          <a:srgbClr val="000000"/>
                        </a:solidFill>
                        <a:latin typeface="Arial"/>
                      </a:endParaRPr>
                    </a:p>
                    <a:p>
                      <a:pPr marL="285750" lvl="0" indent="-285750" algn="ctr">
                        <a:lnSpc>
                          <a:spcPct val="100000"/>
                        </a:lnSpc>
                        <a:spcBef>
                          <a:spcPts val="0"/>
                        </a:spcBef>
                        <a:spcAft>
                          <a:spcPts val="0"/>
                        </a:spcAft>
                        <a:buClr>
                          <a:srgbClr val="000000"/>
                        </a:buClr>
                        <a:buSzPts val="3600"/>
                        <a:buFont typeface="Arial,Sans-Serif"/>
                        <a:buChar char="•"/>
                      </a:pPr>
                      <a:r>
                        <a:rPr lang="en-US" sz="1400" b="1" i="0" u="none" strike="noStrike" cap="none" noProof="0" dirty="0">
                          <a:solidFill>
                            <a:srgbClr val="FF0000"/>
                          </a:solidFill>
                          <a:latin typeface="Arial"/>
                        </a:rPr>
                        <a:t>STD-005-CPP (Memory Protection)</a:t>
                      </a:r>
                      <a:endParaRPr lang="en-US" sz="1400" b="0" i="0" u="none" strike="noStrike" cap="none" noProof="0">
                        <a:solidFill>
                          <a:srgbClr val="000000"/>
                        </a:solidFill>
                        <a:latin typeface="Arial"/>
                      </a:endParaRPr>
                    </a:p>
                    <a:p>
                      <a:pPr marL="285750" lvl="0" indent="-285750" algn="ctr">
                        <a:lnSpc>
                          <a:spcPct val="100000"/>
                        </a:lnSpc>
                        <a:spcBef>
                          <a:spcPts val="0"/>
                        </a:spcBef>
                        <a:spcAft>
                          <a:spcPts val="0"/>
                        </a:spcAft>
                        <a:buClr>
                          <a:srgbClr val="000000"/>
                        </a:buClr>
                        <a:buSzPts val="3600"/>
                        <a:buFont typeface="Arial,Sans-Serif"/>
                        <a:buChar char="•"/>
                      </a:pPr>
                      <a:r>
                        <a:rPr lang="en-US" sz="1400" b="1" i="0" u="none" strike="noStrike" cap="none" noProof="0" dirty="0">
                          <a:solidFill>
                            <a:srgbClr val="FF0000"/>
                          </a:solidFill>
                          <a:latin typeface="Arial"/>
                        </a:rPr>
                        <a:t>STD-008-CPP (Pointer &amp; Bounds Safety)</a:t>
                      </a:r>
                      <a:endParaRPr lang="en-US" sz="1400" b="0" i="0" u="none" strike="noStrike" cap="none" noProof="0">
                        <a:solidFill>
                          <a:srgbClr val="000000"/>
                        </a:solidFill>
                        <a:latin typeface="Arial"/>
                      </a:endParaRPr>
                    </a:p>
                    <a:p>
                      <a:pPr lvl="0" indent="0" algn="ctr">
                        <a:lnSpc>
                          <a:spcPct val="100000"/>
                        </a:lnSpc>
                        <a:spcBef>
                          <a:spcPts val="0"/>
                        </a:spcBef>
                        <a:spcAft>
                          <a:spcPts val="0"/>
                        </a:spcAft>
                        <a:buSzPts val="3600"/>
                        <a:buFont typeface="Arial"/>
                        <a:buNone/>
                      </a:pPr>
                      <a:r>
                        <a:rPr lang="en-US" sz="1400" b="1" i="0" u="none" strike="noStrike" cap="none" noProof="0" dirty="0">
                          <a:solidFill>
                            <a:srgbClr val="FF0000"/>
                          </a:solidFill>
                          <a:latin typeface="Arial"/>
                        </a:rPr>
                        <a:t>Why:</a:t>
                      </a:r>
                      <a:br>
                        <a:rPr lang="en-US" sz="1400" b="1" i="0" u="none" strike="noStrike" cap="none" noProof="0" dirty="0">
                          <a:solidFill>
                            <a:srgbClr val="FF0000"/>
                          </a:solidFill>
                          <a:latin typeface="Arial"/>
                        </a:rPr>
                      </a:br>
                      <a:r>
                        <a:rPr lang="en-US" sz="1400" b="1" i="0" u="none" strike="noStrike" cap="none" noProof="0" dirty="0">
                          <a:solidFill>
                            <a:srgbClr val="FF0000"/>
                          </a:solidFill>
                          <a:latin typeface="Arial"/>
                        </a:rPr>
                        <a:t> These vulnerabilities can allow attackers to:</a:t>
                      </a:r>
                      <a:endParaRPr lang="en-US" sz="1400" b="0" i="0" u="none" strike="noStrike" cap="none" noProof="0">
                        <a:solidFill>
                          <a:srgbClr val="000000"/>
                        </a:solidFill>
                        <a:latin typeface="Arial"/>
                      </a:endParaRPr>
                    </a:p>
                    <a:p>
                      <a:pPr marL="285750" lvl="0" indent="-285750" algn="ctr">
                        <a:lnSpc>
                          <a:spcPct val="100000"/>
                        </a:lnSpc>
                        <a:spcBef>
                          <a:spcPts val="0"/>
                        </a:spcBef>
                        <a:spcAft>
                          <a:spcPts val="0"/>
                        </a:spcAft>
                        <a:buClr>
                          <a:srgbClr val="000000"/>
                        </a:buClr>
                        <a:buSzPts val="3600"/>
                        <a:buFont typeface="Arial,Sans-Serif"/>
                        <a:buChar char="•"/>
                      </a:pPr>
                      <a:r>
                        <a:rPr lang="en-US" sz="1400" b="1" i="0" u="none" strike="noStrike" cap="none" noProof="0" dirty="0">
                          <a:solidFill>
                            <a:srgbClr val="FF0000"/>
                          </a:solidFill>
                          <a:latin typeface="Arial"/>
                        </a:rPr>
                        <a:t>Execute arbitrary code</a:t>
                      </a:r>
                      <a:endParaRPr lang="en-US" sz="1400" b="0" i="0" u="none" strike="noStrike" cap="none" noProof="0">
                        <a:solidFill>
                          <a:srgbClr val="000000"/>
                        </a:solidFill>
                        <a:latin typeface="Arial"/>
                      </a:endParaRPr>
                    </a:p>
                    <a:p>
                      <a:pPr marL="285750" lvl="0" indent="-285750" algn="ctr">
                        <a:lnSpc>
                          <a:spcPct val="100000"/>
                        </a:lnSpc>
                        <a:spcBef>
                          <a:spcPts val="0"/>
                        </a:spcBef>
                        <a:spcAft>
                          <a:spcPts val="0"/>
                        </a:spcAft>
                        <a:buClr>
                          <a:srgbClr val="000000"/>
                        </a:buClr>
                        <a:buSzPts val="3600"/>
                        <a:buFont typeface="Arial,Sans-Serif"/>
                        <a:buChar char="•"/>
                      </a:pPr>
                      <a:r>
                        <a:rPr lang="en-US" sz="1400" b="1" i="0" u="none" strike="noStrike" cap="none" noProof="0" dirty="0">
                          <a:solidFill>
                            <a:srgbClr val="FF0000"/>
                          </a:solidFill>
                          <a:latin typeface="Arial"/>
                        </a:rPr>
                        <a:t>Access sensitive data</a:t>
                      </a:r>
                      <a:endParaRPr lang="en-US" sz="1400" b="0" i="0" u="none" strike="noStrike" cap="none" noProof="0">
                        <a:solidFill>
                          <a:srgbClr val="000000"/>
                        </a:solidFill>
                        <a:latin typeface="Arial"/>
                      </a:endParaRPr>
                    </a:p>
                    <a:p>
                      <a:pPr marL="285750" lvl="0" indent="-285750" algn="ctr">
                        <a:lnSpc>
                          <a:spcPct val="100000"/>
                        </a:lnSpc>
                        <a:spcBef>
                          <a:spcPts val="0"/>
                        </a:spcBef>
                        <a:spcAft>
                          <a:spcPts val="0"/>
                        </a:spcAft>
                        <a:buClr>
                          <a:srgbClr val="000000"/>
                        </a:buClr>
                        <a:buSzPts val="3600"/>
                        <a:buFont typeface="Arial,Sans-Serif"/>
                        <a:buChar char="•"/>
                      </a:pPr>
                      <a:r>
                        <a:rPr lang="en-US" sz="1400" b="1" i="0" u="none" strike="noStrike" cap="none" noProof="0" dirty="0">
                          <a:solidFill>
                            <a:srgbClr val="FF0000"/>
                          </a:solidFill>
                          <a:latin typeface="Arial"/>
                        </a:rPr>
                        <a:t>Corrupt memory</a:t>
                      </a:r>
                      <a:br>
                        <a:rPr lang="en-US" sz="1400" b="1" i="0" u="none" strike="noStrike" cap="none" noProof="0" dirty="0">
                          <a:solidFill>
                            <a:srgbClr val="FF0000"/>
                          </a:solidFill>
                          <a:latin typeface="Arial"/>
                        </a:rPr>
                      </a:br>
                      <a:r>
                        <a:rPr lang="en-US" sz="1400" b="1" i="0" u="none" strike="noStrike" cap="none" noProof="0" dirty="0">
                          <a:solidFill>
                            <a:srgbClr val="FF0000"/>
                          </a:solidFill>
                          <a:latin typeface="Arial"/>
                        </a:rPr>
                        <a:t> They must be fixed first because they pose the greatest business and security risk.</a:t>
                      </a:r>
                      <a:endParaRPr sz="1400" dirty="0"/>
                    </a:p>
                  </a:txBody>
                  <a:tcPr marL="91425" marR="91425" marT="91425" marB="91425">
                    <a:lnL w="28575" cap="flat" cmpd="sng" algn="ctr">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lgn="ctr">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2248380">
                <a:tc>
                  <a:txBody>
                    <a:bodyPr/>
                    <a:lstStyle/>
                    <a:p>
                      <a:pPr marL="0" marR="0" lvl="0" indent="0" algn="ctr" rtl="0">
                        <a:lnSpc>
                          <a:spcPct val="100000"/>
                        </a:lnSpc>
                        <a:spcBef>
                          <a:spcPts val="0"/>
                        </a:spcBef>
                        <a:spcAft>
                          <a:spcPts val="0"/>
                        </a:spcAft>
                        <a:buClr>
                          <a:srgbClr val="000000"/>
                        </a:buClr>
                        <a:buSzPts val="3600"/>
                        <a:buFont typeface="Arial"/>
                        <a:buNone/>
                      </a:pPr>
                      <a:r>
                        <a:rPr lang="en-US" sz="2000" b="1" u="none" strike="noStrike" cap="none" dirty="0">
                          <a:solidFill>
                            <a:srgbClr val="FFD966"/>
                          </a:solidFill>
                        </a:rPr>
                        <a:t>Low priority</a:t>
                      </a:r>
                      <a:endParaRPr sz="2000" b="1" u="none" strike="noStrike" cap="none"/>
                    </a:p>
                    <a:p>
                      <a:pPr lvl="0" algn="ctr">
                        <a:lnSpc>
                          <a:spcPct val="100000"/>
                        </a:lnSpc>
                        <a:spcBef>
                          <a:spcPts val="0"/>
                        </a:spcBef>
                        <a:spcAft>
                          <a:spcPts val="0"/>
                        </a:spcAft>
                        <a:buNone/>
                      </a:pPr>
                      <a:r>
                        <a:rPr lang="en-US" sz="1400" b="1" i="0" u="none" strike="noStrike" cap="none" noProof="0" dirty="0">
                          <a:solidFill>
                            <a:schemeClr val="accent1"/>
                          </a:solidFill>
                          <a:latin typeface="Arial"/>
                        </a:rPr>
                        <a:t>Low likelihood, low impact</a:t>
                      </a:r>
                      <a:endParaRPr lang="en-US" sz="1400" dirty="0">
                        <a:solidFill>
                          <a:schemeClr val="accent1"/>
                        </a:solidFill>
                      </a:endParaRPr>
                    </a:p>
                    <a:p>
                      <a:pPr lvl="0" algn="ctr">
                        <a:lnSpc>
                          <a:spcPct val="100000"/>
                        </a:lnSpc>
                        <a:spcBef>
                          <a:spcPts val="0"/>
                        </a:spcBef>
                        <a:spcAft>
                          <a:spcPts val="0"/>
                        </a:spcAft>
                        <a:buNone/>
                      </a:pPr>
                      <a:r>
                        <a:rPr lang="en-US" sz="1400" b="0" i="0" u="none" strike="noStrike" cap="none" noProof="0" dirty="0">
                          <a:solidFill>
                            <a:schemeClr val="accent1"/>
                          </a:solidFill>
                          <a:latin typeface="Arial"/>
                        </a:rPr>
                        <a:t>Examples:</a:t>
                      </a:r>
                      <a:endParaRPr lang="en-US" sz="1400">
                        <a:solidFill>
                          <a:schemeClr val="accent1"/>
                        </a:solidFill>
                      </a:endParaRPr>
                    </a:p>
                    <a:p>
                      <a:pPr marL="285750" lvl="0" indent="-285750" algn="ctr">
                        <a:lnSpc>
                          <a:spcPct val="100000"/>
                        </a:lnSpc>
                        <a:spcBef>
                          <a:spcPts val="0"/>
                        </a:spcBef>
                        <a:spcAft>
                          <a:spcPts val="0"/>
                        </a:spcAft>
                        <a:buFont typeface="Arial"/>
                        <a:buChar char="•"/>
                      </a:pPr>
                      <a:r>
                        <a:rPr lang="en-US" sz="1400" b="0" i="0" u="none" strike="noStrike" cap="none" noProof="0" dirty="0">
                          <a:solidFill>
                            <a:schemeClr val="accent1"/>
                          </a:solidFill>
                          <a:latin typeface="Arial"/>
                        </a:rPr>
                        <a:t>STD-001-CPP (Data Type Correctness)</a:t>
                      </a:r>
                      <a:endParaRPr lang="en-US" sz="1400" dirty="0">
                        <a:solidFill>
                          <a:schemeClr val="accent1"/>
                        </a:solidFill>
                      </a:endParaRPr>
                    </a:p>
                    <a:p>
                      <a:pPr marL="285750" lvl="0" indent="-285750" algn="ctr">
                        <a:lnSpc>
                          <a:spcPct val="100000"/>
                        </a:lnSpc>
                        <a:spcBef>
                          <a:spcPts val="0"/>
                        </a:spcBef>
                        <a:spcAft>
                          <a:spcPts val="0"/>
                        </a:spcAft>
                        <a:buFont typeface="Arial"/>
                        <a:buChar char="•"/>
                      </a:pPr>
                      <a:r>
                        <a:rPr lang="en-US" sz="1400" b="0" i="0" u="none" strike="noStrike" cap="none" noProof="0" dirty="0">
                          <a:solidFill>
                            <a:schemeClr val="accent1"/>
                          </a:solidFill>
                          <a:latin typeface="Arial"/>
                        </a:rPr>
                        <a:t>STD-002-CPP (Data Value Correctness)</a:t>
                      </a:r>
                      <a:endParaRPr lang="en-US" sz="1400" dirty="0">
                        <a:solidFill>
                          <a:schemeClr val="accent1"/>
                        </a:solidFill>
                      </a:endParaRPr>
                    </a:p>
                    <a:p>
                      <a:pPr lvl="0" indent="0" algn="ctr">
                        <a:lnSpc>
                          <a:spcPct val="100000"/>
                        </a:lnSpc>
                        <a:spcBef>
                          <a:spcPts val="0"/>
                        </a:spcBef>
                        <a:spcAft>
                          <a:spcPts val="0"/>
                        </a:spcAft>
                        <a:buNone/>
                      </a:pPr>
                      <a:r>
                        <a:rPr lang="en-US" sz="1400" b="1" i="0" u="none" strike="noStrike" cap="none" noProof="0" dirty="0">
                          <a:solidFill>
                            <a:schemeClr val="accent1"/>
                          </a:solidFill>
                          <a:latin typeface="Arial"/>
                        </a:rPr>
                        <a:t>Why:</a:t>
                      </a:r>
                      <a:br>
                        <a:rPr lang="en-US" sz="1400" b="1" i="0" u="none" strike="noStrike" cap="none" noProof="0" dirty="0">
                          <a:solidFill>
                            <a:srgbClr val="DF2E28"/>
                          </a:solidFill>
                          <a:latin typeface="Arial"/>
                        </a:rPr>
                      </a:br>
                      <a:r>
                        <a:rPr lang="en-US" sz="1400" b="1" i="0" u="none" strike="noStrike" cap="none" noProof="0" dirty="0">
                          <a:solidFill>
                            <a:schemeClr val="accent1"/>
                          </a:solidFill>
                          <a:latin typeface="Arial"/>
                        </a:rPr>
                        <a:t> These usually cause logic errors rather than direct exploitation. While still important, they pose less immediate danger</a:t>
                      </a:r>
                      <a:endParaRPr lang="en-US" sz="1400" dirty="0">
                        <a:solidFill>
                          <a:schemeClr val="accent1"/>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2000" b="1" u="none" strike="noStrike" cap="none" dirty="0">
                          <a:solidFill>
                            <a:srgbClr val="FFD966"/>
                          </a:solidFill>
                        </a:rPr>
                        <a:t>Unlikely</a:t>
                      </a:r>
                      <a:endParaRPr lang="en-US" sz="2000" b="1" u="none" strike="noStrike" cap="none"/>
                    </a:p>
                    <a:p>
                      <a:pPr marL="0" marR="0" lvl="0" indent="0" algn="ctr">
                        <a:lnSpc>
                          <a:spcPct val="100000"/>
                        </a:lnSpc>
                        <a:spcBef>
                          <a:spcPts val="0"/>
                        </a:spcBef>
                        <a:spcAft>
                          <a:spcPts val="0"/>
                        </a:spcAft>
                        <a:buSzPts val="3600"/>
                        <a:buFont typeface="Arial"/>
                        <a:buNone/>
                      </a:pPr>
                      <a:r>
                        <a:rPr lang="en-US" sz="1400" b="1" i="0" u="none" strike="noStrike" cap="none" noProof="0" dirty="0">
                          <a:solidFill>
                            <a:schemeClr val="accent1"/>
                          </a:solidFill>
                          <a:latin typeface="Arial"/>
                        </a:rPr>
                        <a:t>Low likelihood, high impact</a:t>
                      </a:r>
                      <a:endParaRPr lang="en-US" sz="1400" u="none" strike="noStrike" cap="none" dirty="0">
                        <a:solidFill>
                          <a:schemeClr val="accent1"/>
                        </a:solidFill>
                      </a:endParaRPr>
                    </a:p>
                    <a:p>
                      <a:pPr lvl="0" algn="ctr">
                        <a:lnSpc>
                          <a:spcPct val="100000"/>
                        </a:lnSpc>
                        <a:spcBef>
                          <a:spcPts val="0"/>
                        </a:spcBef>
                        <a:spcAft>
                          <a:spcPts val="0"/>
                        </a:spcAft>
                        <a:buSzPts val="3600"/>
                        <a:buFont typeface="Arial"/>
                        <a:buNone/>
                      </a:pPr>
                      <a:r>
                        <a:rPr lang="en-US" sz="1400" b="0" i="0" u="none" strike="noStrike" cap="none" noProof="0" dirty="0">
                          <a:solidFill>
                            <a:schemeClr val="accent1"/>
                          </a:solidFill>
                          <a:latin typeface="Arial"/>
                        </a:rPr>
                        <a:t>Examples:</a:t>
                      </a:r>
                      <a:endParaRPr lang="en-US" sz="1400" dirty="0">
                        <a:solidFill>
                          <a:schemeClr val="accent1"/>
                        </a:solidFill>
                      </a:endParaRPr>
                    </a:p>
                    <a:p>
                      <a:pPr marL="285750" lvl="0" indent="-285750" algn="ctr">
                        <a:lnSpc>
                          <a:spcPct val="100000"/>
                        </a:lnSpc>
                        <a:spcBef>
                          <a:spcPts val="0"/>
                        </a:spcBef>
                        <a:spcAft>
                          <a:spcPts val="0"/>
                        </a:spcAft>
                        <a:buSzPts val="3600"/>
                        <a:buFont typeface="Arial"/>
                        <a:buChar char="•"/>
                      </a:pPr>
                      <a:r>
                        <a:rPr lang="en-US" sz="1400" b="0" i="0" u="none" strike="noStrike" cap="none" noProof="0" dirty="0">
                          <a:solidFill>
                            <a:schemeClr val="accent1"/>
                          </a:solidFill>
                          <a:latin typeface="Arial"/>
                        </a:rPr>
                        <a:t>STD-010-CPP (Protect Secrets)</a:t>
                      </a:r>
                      <a:endParaRPr lang="en-US" sz="1400">
                        <a:solidFill>
                          <a:schemeClr val="accent1"/>
                        </a:solidFill>
                      </a:endParaRPr>
                    </a:p>
                    <a:p>
                      <a:pPr marL="285750" lvl="0" indent="-285750" algn="ctr">
                        <a:lnSpc>
                          <a:spcPct val="100000"/>
                        </a:lnSpc>
                        <a:spcBef>
                          <a:spcPts val="0"/>
                        </a:spcBef>
                        <a:spcAft>
                          <a:spcPts val="0"/>
                        </a:spcAft>
                        <a:buSzPts val="3600"/>
                        <a:buFont typeface="Arial"/>
                        <a:buChar char="•"/>
                      </a:pPr>
                      <a:r>
                        <a:rPr lang="en-US" sz="1400" b="0" i="0" u="none" strike="noStrike" cap="none" noProof="0" dirty="0">
                          <a:solidFill>
                            <a:schemeClr val="accent1"/>
                          </a:solidFill>
                          <a:latin typeface="Arial"/>
                        </a:rPr>
                        <a:t>STD-007-CPP (Exceptions)</a:t>
                      </a:r>
                      <a:endParaRPr lang="en-US" sz="1400">
                        <a:solidFill>
                          <a:schemeClr val="accent1"/>
                        </a:solidFill>
                      </a:endParaRPr>
                    </a:p>
                    <a:p>
                      <a:pPr lvl="0" indent="0" algn="ctr">
                        <a:lnSpc>
                          <a:spcPct val="100000"/>
                        </a:lnSpc>
                        <a:spcBef>
                          <a:spcPts val="0"/>
                        </a:spcBef>
                        <a:spcAft>
                          <a:spcPts val="0"/>
                        </a:spcAft>
                        <a:buSzPts val="3600"/>
                        <a:buFont typeface="Arial"/>
                        <a:buNone/>
                      </a:pPr>
                      <a:r>
                        <a:rPr lang="en-US" sz="1400" b="1" i="0" u="none" strike="noStrike" cap="none" noProof="0" dirty="0">
                          <a:solidFill>
                            <a:schemeClr val="accent1"/>
                          </a:solidFill>
                          <a:latin typeface="Arial"/>
                        </a:rPr>
                        <a:t>Why:</a:t>
                      </a:r>
                      <a:br>
                        <a:rPr lang="en-US" sz="1400" b="1" i="0" u="none" strike="noStrike" cap="none" noProof="0" dirty="0">
                          <a:solidFill>
                            <a:srgbClr val="DF2E28"/>
                          </a:solidFill>
                          <a:latin typeface="Arial"/>
                        </a:rPr>
                      </a:br>
                      <a:r>
                        <a:rPr lang="en-US" sz="1400" b="1" i="0" u="none" strike="noStrike" cap="none" noProof="0" dirty="0">
                          <a:solidFill>
                            <a:schemeClr val="accent1"/>
                          </a:solidFill>
                          <a:latin typeface="Arial"/>
                        </a:rPr>
                        <a:t> These occur less often, but when they do, the consequences can be severe—such as credential leaks or hidden system failures.</a:t>
                      </a:r>
                      <a:endParaRPr lang="en-US" sz="1400" dirty="0">
                        <a:solidFill>
                          <a:schemeClr val="accent1"/>
                        </a:solidFill>
                      </a:endParaRPr>
                    </a:p>
                  </a:txBody>
                  <a:tcPr marL="91425" marR="91425" marT="91425" marB="91425">
                    <a:lnL w="28575" cap="flat" cmpd="sng" algn="ctr">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lgn="ctr">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bl>
          </a:graphicData>
        </a:graphic>
      </p:graphicFrame>
      <p:pic>
        <p:nvPicPr>
          <p:cNvPr id="162" name="Google Shape;162;p4" descr="Green Pace logo"/>
          <p:cNvPicPr preferRelativeResize="0"/>
          <p:nvPr/>
        </p:nvPicPr>
        <p:blipFill>
          <a:blip r:embed="rId4">
            <a:alphaModFix/>
          </a:blip>
          <a:stretch>
            <a:fillRect/>
          </a:stretch>
        </p:blipFill>
        <p:spPr>
          <a:xfrm>
            <a:off x="11552459" y="4419864"/>
            <a:ext cx="641922" cy="652877"/>
          </a:xfrm>
          <a:prstGeom prst="rect">
            <a:avLst/>
          </a:prstGeom>
          <a:noFill/>
          <a:ln>
            <a:noFill/>
          </a:ln>
        </p:spPr>
      </p:pic>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2916195" y="2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10 PRINCIPLES</a:t>
            </a:r>
            <a:endParaRPr/>
          </a:p>
        </p:txBody>
      </p:sp>
      <p:pic>
        <p:nvPicPr>
          <p:cNvPr id="169" name="Google Shape;169;p5"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3" name="Table 2">
            <a:extLst>
              <a:ext uri="{FF2B5EF4-FFF2-40B4-BE49-F238E27FC236}">
                <a16:creationId xmlns:a16="http://schemas.microsoft.com/office/drawing/2014/main" id="{B0A78FA3-7088-B5AC-E364-82C4BA8C2689}"/>
              </a:ext>
            </a:extLst>
          </p:cNvPr>
          <p:cNvGraphicFramePr>
            <a:graphicFrameLocks noGrp="1"/>
          </p:cNvGraphicFramePr>
          <p:nvPr>
            <p:extLst>
              <p:ext uri="{D42A27DB-BD31-4B8C-83A1-F6EECF244321}">
                <p14:modId xmlns:p14="http://schemas.microsoft.com/office/powerpoint/2010/main" val="1590887148"/>
              </p:ext>
            </p:extLst>
          </p:nvPr>
        </p:nvGraphicFramePr>
        <p:xfrm>
          <a:off x="377567" y="1015999"/>
          <a:ext cx="11436853" cy="5747565"/>
        </p:xfrm>
        <a:graphic>
          <a:graphicData uri="http://schemas.openxmlformats.org/drawingml/2006/table">
            <a:tbl>
              <a:tblPr bandRow="1">
                <a:tableStyleId>{3C2FFA5D-87B4-456A-9821-1D502468CF0F}</a:tableStyleId>
              </a:tblPr>
              <a:tblGrid>
                <a:gridCol w="3413024">
                  <a:extLst>
                    <a:ext uri="{9D8B030D-6E8A-4147-A177-3AD203B41FA5}">
                      <a16:colId xmlns:a16="http://schemas.microsoft.com/office/drawing/2014/main" val="800109161"/>
                    </a:ext>
                  </a:extLst>
                </a:gridCol>
                <a:gridCol w="8023829">
                  <a:extLst>
                    <a:ext uri="{9D8B030D-6E8A-4147-A177-3AD203B41FA5}">
                      <a16:colId xmlns:a16="http://schemas.microsoft.com/office/drawing/2014/main" val="723479006"/>
                    </a:ext>
                  </a:extLst>
                </a:gridCol>
              </a:tblGrid>
              <a:tr h="446195">
                <a:tc>
                  <a:txBody>
                    <a:bodyPr/>
                    <a:lstStyle/>
                    <a:p>
                      <a:pPr>
                        <a:buNone/>
                      </a:pPr>
                      <a:r>
                        <a:rPr lang="en-US" sz="1600" dirty="0">
                          <a:solidFill>
                            <a:schemeClr val="tx1"/>
                          </a:solidFill>
                          <a:effectLst/>
                        </a:rPr>
                        <a:t>Security Principle</a:t>
                      </a:r>
                    </a:p>
                  </a:txBody>
                  <a:tcPr anchor="ctr"/>
                </a:tc>
                <a:tc>
                  <a:txBody>
                    <a:bodyPr/>
                    <a:lstStyle/>
                    <a:p>
                      <a:pPr>
                        <a:buNone/>
                      </a:pPr>
                      <a:r>
                        <a:rPr lang="en-US" sz="1600" dirty="0">
                          <a:solidFill>
                            <a:schemeClr val="tx1"/>
                          </a:solidFill>
                          <a:effectLst/>
                        </a:rPr>
                        <a:t>Related Coding Standards</a:t>
                      </a:r>
                    </a:p>
                  </a:txBody>
                  <a:tcPr anchor="ctr"/>
                </a:tc>
                <a:extLst>
                  <a:ext uri="{0D108BD9-81ED-4DB2-BD59-A6C34878D82A}">
                    <a16:rowId xmlns:a16="http://schemas.microsoft.com/office/drawing/2014/main" val="2170828863"/>
                  </a:ext>
                </a:extLst>
              </a:tr>
              <a:tr h="753915">
                <a:tc>
                  <a:txBody>
                    <a:bodyPr/>
                    <a:lstStyle/>
                    <a:p>
                      <a:pPr>
                        <a:buNone/>
                      </a:pPr>
                      <a:r>
                        <a:rPr lang="en-US" sz="1600" dirty="0">
                          <a:solidFill>
                            <a:schemeClr val="tx1"/>
                          </a:solidFill>
                          <a:effectLst/>
                        </a:rPr>
                        <a:t>1. Validate Input Data</a:t>
                      </a:r>
                    </a:p>
                  </a:txBody>
                  <a:tcPr anchor="ctr"/>
                </a:tc>
                <a:tc>
                  <a:txBody>
                    <a:bodyPr/>
                    <a:lstStyle/>
                    <a:p>
                      <a:pPr>
                        <a:buNone/>
                      </a:pPr>
                      <a:r>
                        <a:rPr lang="en-US" sz="1600" dirty="0">
                          <a:solidFill>
                            <a:schemeClr val="tx1"/>
                          </a:solidFill>
                          <a:effectLst/>
                        </a:rPr>
                        <a:t>STD-001-CPP (Data Type), STD-002-CPP (Data Value), STD-003-CPP (String Correctness), STD-008-CPP (Pointer Safety), STD-009-CPP (Secure Buffers)</a:t>
                      </a:r>
                    </a:p>
                  </a:txBody>
                  <a:tcPr anchor="ctr"/>
                </a:tc>
                <a:extLst>
                  <a:ext uri="{0D108BD9-81ED-4DB2-BD59-A6C34878D82A}">
                    <a16:rowId xmlns:a16="http://schemas.microsoft.com/office/drawing/2014/main" val="1715032704"/>
                  </a:ext>
                </a:extLst>
              </a:tr>
              <a:tr h="446195">
                <a:tc>
                  <a:txBody>
                    <a:bodyPr/>
                    <a:lstStyle/>
                    <a:p>
                      <a:pPr>
                        <a:buNone/>
                      </a:pPr>
                      <a:r>
                        <a:rPr lang="en-US" sz="1600" dirty="0">
                          <a:solidFill>
                            <a:schemeClr val="tx1"/>
                          </a:solidFill>
                          <a:effectLst/>
                        </a:rPr>
                        <a:t>2. Heed Compiler Warnings</a:t>
                      </a:r>
                    </a:p>
                  </a:txBody>
                  <a:tcPr anchor="ctr"/>
                </a:tc>
                <a:tc>
                  <a:txBody>
                    <a:bodyPr/>
                    <a:lstStyle/>
                    <a:p>
                      <a:pPr>
                        <a:buNone/>
                      </a:pPr>
                      <a:r>
                        <a:rPr lang="en-US" sz="1600" dirty="0">
                          <a:solidFill>
                            <a:schemeClr val="tx1"/>
                          </a:solidFill>
                          <a:effectLst/>
                        </a:rPr>
                        <a:t>STD-001-CPP (Data Type), STD-006-CPP (Assertions)</a:t>
                      </a:r>
                    </a:p>
                  </a:txBody>
                  <a:tcPr anchor="ctr"/>
                </a:tc>
                <a:extLst>
                  <a:ext uri="{0D108BD9-81ED-4DB2-BD59-A6C34878D82A}">
                    <a16:rowId xmlns:a16="http://schemas.microsoft.com/office/drawing/2014/main" val="2384351134"/>
                  </a:ext>
                </a:extLst>
              </a:tr>
              <a:tr h="446195">
                <a:tc>
                  <a:txBody>
                    <a:bodyPr/>
                    <a:lstStyle/>
                    <a:p>
                      <a:pPr>
                        <a:buNone/>
                      </a:pPr>
                      <a:r>
                        <a:rPr lang="en-US" sz="1600" dirty="0">
                          <a:solidFill>
                            <a:schemeClr val="tx1"/>
                          </a:solidFill>
                          <a:effectLst/>
                        </a:rPr>
                        <a:t>3. Architect and Design for Security Policies</a:t>
                      </a:r>
                    </a:p>
                  </a:txBody>
                  <a:tcPr anchor="ctr"/>
                </a:tc>
                <a:tc>
                  <a:txBody>
                    <a:bodyPr/>
                    <a:lstStyle/>
                    <a:p>
                      <a:pPr>
                        <a:buNone/>
                      </a:pPr>
                      <a:r>
                        <a:rPr lang="en-US" sz="1600" dirty="0">
                          <a:solidFill>
                            <a:schemeClr val="tx1"/>
                          </a:solidFill>
                          <a:effectLst/>
                        </a:rPr>
                        <a:t>STD-004-CPP (SQL Injection), STD-007-CPP (Exceptions), STD-010-CPP (Protect Secrets)</a:t>
                      </a:r>
                    </a:p>
                  </a:txBody>
                  <a:tcPr anchor="ctr"/>
                </a:tc>
                <a:extLst>
                  <a:ext uri="{0D108BD9-81ED-4DB2-BD59-A6C34878D82A}">
                    <a16:rowId xmlns:a16="http://schemas.microsoft.com/office/drawing/2014/main" val="161994336"/>
                  </a:ext>
                </a:extLst>
              </a:tr>
              <a:tr h="446195">
                <a:tc>
                  <a:txBody>
                    <a:bodyPr/>
                    <a:lstStyle/>
                    <a:p>
                      <a:pPr>
                        <a:buNone/>
                      </a:pPr>
                      <a:r>
                        <a:rPr lang="en-US" sz="1600" dirty="0">
                          <a:solidFill>
                            <a:schemeClr val="tx1"/>
                          </a:solidFill>
                          <a:effectLst/>
                        </a:rPr>
                        <a:t>4. Keep It Simple</a:t>
                      </a:r>
                    </a:p>
                  </a:txBody>
                  <a:tcPr anchor="ctr"/>
                </a:tc>
                <a:tc>
                  <a:txBody>
                    <a:bodyPr/>
                    <a:lstStyle/>
                    <a:p>
                      <a:pPr>
                        <a:buNone/>
                      </a:pPr>
                      <a:r>
                        <a:rPr lang="en-US" sz="1600" dirty="0">
                          <a:solidFill>
                            <a:schemeClr val="tx1"/>
                          </a:solidFill>
                          <a:effectLst/>
                        </a:rPr>
                        <a:t>STD-001-CPP (Data Type), STD-005-CPP (Memory Protection)</a:t>
                      </a:r>
                    </a:p>
                  </a:txBody>
                  <a:tcPr anchor="ctr"/>
                </a:tc>
                <a:extLst>
                  <a:ext uri="{0D108BD9-81ED-4DB2-BD59-A6C34878D82A}">
                    <a16:rowId xmlns:a16="http://schemas.microsoft.com/office/drawing/2014/main" val="1071021535"/>
                  </a:ext>
                </a:extLst>
              </a:tr>
              <a:tr h="446195">
                <a:tc>
                  <a:txBody>
                    <a:bodyPr/>
                    <a:lstStyle/>
                    <a:p>
                      <a:pPr>
                        <a:buNone/>
                      </a:pPr>
                      <a:r>
                        <a:rPr lang="en-US" sz="1600" dirty="0">
                          <a:solidFill>
                            <a:schemeClr val="tx1"/>
                          </a:solidFill>
                          <a:effectLst/>
                        </a:rPr>
                        <a:t>5. Default Deny</a:t>
                      </a:r>
                    </a:p>
                  </a:txBody>
                  <a:tcPr anchor="ctr"/>
                </a:tc>
                <a:tc>
                  <a:txBody>
                    <a:bodyPr/>
                    <a:lstStyle/>
                    <a:p>
                      <a:pPr>
                        <a:buNone/>
                      </a:pPr>
                      <a:r>
                        <a:rPr lang="en-US" sz="1600" dirty="0">
                          <a:solidFill>
                            <a:schemeClr val="tx1"/>
                          </a:solidFill>
                          <a:effectLst/>
                        </a:rPr>
                        <a:t>STD-002-CPP (Data Value), STD-004-CPP (SQL Injection), STD-009-CPP (Secure Buffers)</a:t>
                      </a:r>
                    </a:p>
                  </a:txBody>
                  <a:tcPr anchor="ctr"/>
                </a:tc>
                <a:extLst>
                  <a:ext uri="{0D108BD9-81ED-4DB2-BD59-A6C34878D82A}">
                    <a16:rowId xmlns:a16="http://schemas.microsoft.com/office/drawing/2014/main" val="155780667"/>
                  </a:ext>
                </a:extLst>
              </a:tr>
              <a:tr h="446195">
                <a:tc>
                  <a:txBody>
                    <a:bodyPr/>
                    <a:lstStyle/>
                    <a:p>
                      <a:pPr>
                        <a:buNone/>
                      </a:pPr>
                      <a:r>
                        <a:rPr lang="en-US" sz="1600" dirty="0">
                          <a:solidFill>
                            <a:schemeClr val="tx1"/>
                          </a:solidFill>
                          <a:effectLst/>
                        </a:rPr>
                        <a:t>6. Least Privilege</a:t>
                      </a:r>
                    </a:p>
                  </a:txBody>
                  <a:tcPr anchor="ctr"/>
                </a:tc>
                <a:tc>
                  <a:txBody>
                    <a:bodyPr/>
                    <a:lstStyle/>
                    <a:p>
                      <a:pPr>
                        <a:buNone/>
                      </a:pPr>
                      <a:r>
                        <a:rPr lang="en-US" sz="1600" dirty="0">
                          <a:solidFill>
                            <a:schemeClr val="tx1"/>
                          </a:solidFill>
                          <a:effectLst/>
                        </a:rPr>
                        <a:t>STD-010-CPP (Protect Secrets)</a:t>
                      </a:r>
                    </a:p>
                  </a:txBody>
                  <a:tcPr anchor="ctr"/>
                </a:tc>
                <a:extLst>
                  <a:ext uri="{0D108BD9-81ED-4DB2-BD59-A6C34878D82A}">
                    <a16:rowId xmlns:a16="http://schemas.microsoft.com/office/drawing/2014/main" val="2888172234"/>
                  </a:ext>
                </a:extLst>
              </a:tr>
              <a:tr h="446195">
                <a:tc>
                  <a:txBody>
                    <a:bodyPr/>
                    <a:lstStyle/>
                    <a:p>
                      <a:pPr>
                        <a:buNone/>
                      </a:pPr>
                      <a:r>
                        <a:rPr lang="en-US" sz="1600" dirty="0">
                          <a:solidFill>
                            <a:schemeClr val="tx1"/>
                          </a:solidFill>
                          <a:effectLst/>
                        </a:rPr>
                        <a:t>7. Sanitize Data Sent to Other Systems</a:t>
                      </a:r>
                    </a:p>
                  </a:txBody>
                  <a:tcPr anchor="ctr"/>
                </a:tc>
                <a:tc>
                  <a:txBody>
                    <a:bodyPr/>
                    <a:lstStyle/>
                    <a:p>
                      <a:pPr>
                        <a:buNone/>
                      </a:pPr>
                      <a:r>
                        <a:rPr lang="en-US" sz="1600" dirty="0">
                          <a:solidFill>
                            <a:schemeClr val="tx1"/>
                          </a:solidFill>
                          <a:effectLst/>
                        </a:rPr>
                        <a:t>STD-004-CPP (SQL Injection), STD-010-CPP (Protect Secrets)</a:t>
                      </a:r>
                    </a:p>
                  </a:txBody>
                  <a:tcPr anchor="ctr"/>
                </a:tc>
                <a:extLst>
                  <a:ext uri="{0D108BD9-81ED-4DB2-BD59-A6C34878D82A}">
                    <a16:rowId xmlns:a16="http://schemas.microsoft.com/office/drawing/2014/main" val="1927920283"/>
                  </a:ext>
                </a:extLst>
              </a:tr>
              <a:tr h="446195">
                <a:tc>
                  <a:txBody>
                    <a:bodyPr/>
                    <a:lstStyle/>
                    <a:p>
                      <a:pPr>
                        <a:buNone/>
                      </a:pPr>
                      <a:r>
                        <a:rPr lang="en-US" sz="1600" dirty="0">
                          <a:solidFill>
                            <a:schemeClr val="tx1"/>
                          </a:solidFill>
                          <a:effectLst/>
                        </a:rPr>
                        <a:t>8. Defense in Depth</a:t>
                      </a:r>
                    </a:p>
                  </a:txBody>
                  <a:tcPr anchor="ctr"/>
                </a:tc>
                <a:tc>
                  <a:txBody>
                    <a:bodyPr/>
                    <a:lstStyle/>
                    <a:p>
                      <a:pPr>
                        <a:buNone/>
                      </a:pPr>
                      <a:r>
                        <a:rPr lang="en-US" sz="1600" dirty="0">
                          <a:solidFill>
                            <a:schemeClr val="tx1"/>
                          </a:solidFill>
                          <a:effectLst/>
                        </a:rPr>
                        <a:t>STD-003-CPP, STD-005-CPP, STD-008-CPP, STD-009-CPP</a:t>
                      </a:r>
                    </a:p>
                  </a:txBody>
                  <a:tcPr anchor="ctr"/>
                </a:tc>
                <a:extLst>
                  <a:ext uri="{0D108BD9-81ED-4DB2-BD59-A6C34878D82A}">
                    <a16:rowId xmlns:a16="http://schemas.microsoft.com/office/drawing/2014/main" val="1195312733"/>
                  </a:ext>
                </a:extLst>
              </a:tr>
              <a:tr h="446195">
                <a:tc>
                  <a:txBody>
                    <a:bodyPr/>
                    <a:lstStyle/>
                    <a:p>
                      <a:pPr>
                        <a:buNone/>
                      </a:pPr>
                      <a:r>
                        <a:rPr lang="en-US" sz="1600" dirty="0">
                          <a:solidFill>
                            <a:schemeClr val="tx1"/>
                          </a:solidFill>
                          <a:effectLst/>
                        </a:rPr>
                        <a:t>9. Effective Quality Assurance</a:t>
                      </a:r>
                    </a:p>
                  </a:txBody>
                  <a:tcPr anchor="ctr"/>
                </a:tc>
                <a:tc>
                  <a:txBody>
                    <a:bodyPr/>
                    <a:lstStyle/>
                    <a:p>
                      <a:pPr>
                        <a:buNone/>
                      </a:pPr>
                      <a:r>
                        <a:rPr lang="en-US" sz="1600" dirty="0">
                          <a:solidFill>
                            <a:schemeClr val="tx1"/>
                          </a:solidFill>
                          <a:effectLst/>
                        </a:rPr>
                        <a:t>STD-003-CPP, STD-006-CPP, STD-007-CPP</a:t>
                      </a:r>
                    </a:p>
                  </a:txBody>
                  <a:tcPr anchor="ctr"/>
                </a:tc>
                <a:extLst>
                  <a:ext uri="{0D108BD9-81ED-4DB2-BD59-A6C34878D82A}">
                    <a16:rowId xmlns:a16="http://schemas.microsoft.com/office/drawing/2014/main" val="408863996"/>
                  </a:ext>
                </a:extLst>
              </a:tr>
              <a:tr h="446195">
                <a:tc>
                  <a:txBody>
                    <a:bodyPr/>
                    <a:lstStyle/>
                    <a:p>
                      <a:pPr>
                        <a:buNone/>
                      </a:pPr>
                      <a:r>
                        <a:rPr lang="en-US" sz="1600" dirty="0">
                          <a:solidFill>
                            <a:schemeClr val="tx1"/>
                          </a:solidFill>
                          <a:effectLst/>
                        </a:rPr>
                        <a:t>10. Adopt a Secure Coding Standard</a:t>
                      </a:r>
                    </a:p>
                  </a:txBody>
                  <a:tcPr anchor="ctr"/>
                </a:tc>
                <a:tc>
                  <a:txBody>
                    <a:bodyPr/>
                    <a:lstStyle/>
                    <a:p>
                      <a:pPr>
                        <a:buNone/>
                      </a:pPr>
                      <a:r>
                        <a:rPr lang="en-US" sz="1600" dirty="0">
                          <a:solidFill>
                            <a:schemeClr val="tx1"/>
                          </a:solidFill>
                          <a:effectLst/>
                        </a:rPr>
                        <a:t>All Standards: STD-001-CPP through STD-010-CPP</a:t>
                      </a:r>
                    </a:p>
                  </a:txBody>
                  <a:tcPr anchor="ctr"/>
                </a:tc>
                <a:extLst>
                  <a:ext uri="{0D108BD9-81ED-4DB2-BD59-A6C34878D82A}">
                    <a16:rowId xmlns:a16="http://schemas.microsoft.com/office/drawing/2014/main" val="1309349955"/>
                  </a:ext>
                </a:extLst>
              </a:tr>
            </a:tbl>
          </a:graphicData>
        </a:graphic>
      </p:graphicFrame>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2909582" y="177144"/>
            <a:ext cx="8610600" cy="824643"/>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CODING STANDARDS</a:t>
            </a:r>
            <a:endParaRPr/>
          </a:p>
        </p:txBody>
      </p:sp>
      <p:sp>
        <p:nvSpPr>
          <p:cNvPr id="175" name="Google Shape;175;p6"/>
          <p:cNvSpPr txBox="1">
            <a:spLocks noGrp="1"/>
          </p:cNvSpPr>
          <p:nvPr>
            <p:ph type="body" idx="1"/>
          </p:nvPr>
        </p:nvSpPr>
        <p:spPr>
          <a:xfrm>
            <a:off x="698" y="999129"/>
            <a:ext cx="7045355" cy="6254197"/>
          </a:xfrm>
          <a:prstGeom prst="rect">
            <a:avLst/>
          </a:prstGeom>
          <a:noFill/>
          <a:ln>
            <a:noFill/>
          </a:ln>
        </p:spPr>
        <p:txBody>
          <a:bodyPr spcFirstLastPara="1" wrap="square" lIns="91425" tIns="45700" rIns="91425" bIns="45700" anchor="t" anchorCtr="0">
            <a:noAutofit/>
          </a:bodyPr>
          <a:lstStyle/>
          <a:p>
            <a:pPr marL="571500" indent="-457200">
              <a:buSzPts val="2000"/>
              <a:buAutoNum type="arabicPeriod"/>
            </a:pPr>
            <a:r>
              <a:rPr lang="en-US" sz="1800" b="1" dirty="0">
                <a:solidFill>
                  <a:schemeClr val="bg1"/>
                </a:solidFill>
              </a:rPr>
              <a:t>STD-004-CPP — SQL Injection (parameterized queries)</a:t>
            </a:r>
            <a:endParaRPr lang="en-US" sz="1800">
              <a:solidFill>
                <a:schemeClr val="bg1"/>
              </a:solidFill>
            </a:endParaRPr>
          </a:p>
          <a:p>
            <a:pPr marL="571500" indent="-457200">
              <a:buSzPts val="2000"/>
              <a:buAutoNum type="arabicPeriod"/>
            </a:pPr>
            <a:r>
              <a:rPr lang="en-US" sz="1800" b="1" dirty="0">
                <a:solidFill>
                  <a:schemeClr val="bg1"/>
                </a:solidFill>
              </a:rPr>
              <a:t>STD-005-CPP — Memory Protection (RAII/smart pointers)</a:t>
            </a:r>
            <a:endParaRPr lang="en-US" sz="1800">
              <a:solidFill>
                <a:schemeClr val="bg1"/>
              </a:solidFill>
            </a:endParaRPr>
          </a:p>
          <a:p>
            <a:pPr marL="571500" indent="-457200">
              <a:buSzPts val="2000"/>
              <a:buAutoNum type="arabicPeriod"/>
            </a:pPr>
            <a:r>
              <a:rPr lang="en-US" sz="1800" b="1" dirty="0">
                <a:solidFill>
                  <a:schemeClr val="bg1"/>
                </a:solidFill>
              </a:rPr>
              <a:t>STD-003-CPP — String Correctness (avoid unsafe C strings)</a:t>
            </a:r>
            <a:endParaRPr lang="en-US" sz="1800">
              <a:solidFill>
                <a:schemeClr val="bg1"/>
              </a:solidFill>
            </a:endParaRPr>
          </a:p>
          <a:p>
            <a:pPr marL="571500" indent="-457200">
              <a:buSzPts val="2000"/>
              <a:buAutoNum type="arabicPeriod"/>
            </a:pPr>
            <a:r>
              <a:rPr lang="en-US" sz="1800" b="1" dirty="0">
                <a:solidFill>
                  <a:schemeClr val="bg1"/>
                </a:solidFill>
              </a:rPr>
              <a:t>STD-010-CPP — Protect Secrets / Avoid Sensitive Data Exposure</a:t>
            </a:r>
            <a:endParaRPr lang="en-US" sz="1800">
              <a:solidFill>
                <a:schemeClr val="bg1"/>
              </a:solidFill>
            </a:endParaRPr>
          </a:p>
          <a:p>
            <a:pPr marL="571500" indent="-457200">
              <a:buSzPts val="2000"/>
              <a:buAutoNum type="arabicPeriod"/>
            </a:pPr>
            <a:r>
              <a:rPr lang="en-US" sz="1800" b="1" dirty="0">
                <a:solidFill>
                  <a:schemeClr val="bg1"/>
                </a:solidFill>
              </a:rPr>
              <a:t>STD-009-CPP — Secure input into fixed buffers (prevent overflow)</a:t>
            </a:r>
            <a:endParaRPr lang="en-US" sz="1800">
              <a:solidFill>
                <a:schemeClr val="bg1"/>
              </a:solidFill>
            </a:endParaRPr>
          </a:p>
          <a:p>
            <a:pPr marL="571500" indent="-457200">
              <a:buSzPts val="2000"/>
              <a:buAutoNum type="arabicPeriod"/>
            </a:pPr>
            <a:r>
              <a:rPr lang="en-US" sz="1800" b="1" dirty="0">
                <a:solidFill>
                  <a:schemeClr val="bg1"/>
                </a:solidFill>
              </a:rPr>
              <a:t>STD-008-CPP — Pointer and bounds safety (range-check element access)</a:t>
            </a:r>
            <a:endParaRPr lang="en-US" sz="1800">
              <a:solidFill>
                <a:schemeClr val="bg1"/>
              </a:solidFill>
            </a:endParaRPr>
          </a:p>
          <a:p>
            <a:pPr marL="571500" indent="-457200">
              <a:buSzPts val="2000"/>
              <a:buAutoNum type="arabicPeriod"/>
            </a:pPr>
            <a:r>
              <a:rPr lang="en-US" sz="1800" b="1" dirty="0">
                <a:solidFill>
                  <a:schemeClr val="bg1"/>
                </a:solidFill>
              </a:rPr>
              <a:t>STD-007-CPP — Exceptions (avoid error hiding, handle safely)</a:t>
            </a:r>
            <a:endParaRPr lang="en-US" sz="1800">
              <a:solidFill>
                <a:schemeClr val="bg1"/>
              </a:solidFill>
            </a:endParaRPr>
          </a:p>
          <a:p>
            <a:pPr marL="571500" indent="-457200">
              <a:buSzPts val="2000"/>
              <a:buAutoNum type="arabicPeriod"/>
            </a:pPr>
            <a:r>
              <a:rPr lang="en-US" sz="1800" b="1" dirty="0">
                <a:solidFill>
                  <a:schemeClr val="bg1"/>
                </a:solidFill>
              </a:rPr>
              <a:t>STD-002-CPP — Data Value correctness (overflow/underflow checks)</a:t>
            </a:r>
            <a:endParaRPr lang="en-US" sz="1800">
              <a:solidFill>
                <a:schemeClr val="bg1"/>
              </a:solidFill>
            </a:endParaRPr>
          </a:p>
          <a:p>
            <a:pPr marL="571500" indent="-457200">
              <a:buSzPts val="2000"/>
              <a:buAutoNum type="arabicPeriod"/>
            </a:pPr>
            <a:r>
              <a:rPr lang="en-US" sz="1800" b="1" dirty="0">
                <a:solidFill>
                  <a:schemeClr val="bg1"/>
                </a:solidFill>
              </a:rPr>
              <a:t>STD-001-CPP — Data Type correctness (safe conversions)</a:t>
            </a:r>
            <a:endParaRPr lang="en-US" sz="1800">
              <a:solidFill>
                <a:schemeClr val="bg1"/>
              </a:solidFill>
            </a:endParaRPr>
          </a:p>
          <a:p>
            <a:pPr marL="571500" indent="-457200">
              <a:buSzPts val="2000"/>
              <a:buAutoNum type="arabicPeriod"/>
            </a:pPr>
            <a:r>
              <a:rPr lang="en-US" sz="1800" b="1" dirty="0">
                <a:solidFill>
                  <a:schemeClr val="bg1"/>
                </a:solidFill>
              </a:rPr>
              <a:t>STD-006-CPP — Assertions (invariants only, not security validation)</a:t>
            </a:r>
            <a:endParaRPr lang="en-US" sz="1800">
              <a:solidFill>
                <a:schemeClr val="bg1"/>
              </a:solidFill>
            </a:endParaRPr>
          </a:p>
          <a:p>
            <a:pPr lvl="0" indent="-457200" algn="l">
              <a:lnSpc>
                <a:spcPct val="90000"/>
              </a:lnSpc>
              <a:spcBef>
                <a:spcPts val="0"/>
              </a:spcBef>
              <a:spcAft>
                <a:spcPts val="0"/>
              </a:spcAft>
              <a:buClr>
                <a:schemeClr val="lt1"/>
              </a:buClr>
              <a:buSzPts val="2000"/>
              <a:buAutoNum type="arabicPeriod"/>
            </a:pPr>
            <a:endParaRPr lang="en-US" sz="2000" dirty="0">
              <a:solidFill>
                <a:schemeClr val="bg1"/>
              </a:solidFill>
            </a:endParaRPr>
          </a:p>
        </p:txBody>
      </p:sp>
      <p:pic>
        <p:nvPicPr>
          <p:cNvPr id="176" name="Google Shape;176;p6"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4" name="TextBox 3">
            <a:extLst>
              <a:ext uri="{FF2B5EF4-FFF2-40B4-BE49-F238E27FC236}">
                <a16:creationId xmlns:a16="http://schemas.microsoft.com/office/drawing/2014/main" id="{701FDC0B-346B-48BB-5823-B85F95C32F13}"/>
              </a:ext>
            </a:extLst>
          </p:cNvPr>
          <p:cNvSpPr txBox="1"/>
          <p:nvPr/>
        </p:nvSpPr>
        <p:spPr>
          <a:xfrm>
            <a:off x="7063629" y="1021606"/>
            <a:ext cx="5234427" cy="53553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dirty="0">
                <a:solidFill>
                  <a:schemeClr val="bg1"/>
                </a:solidFill>
              </a:rPr>
              <a:t>I ranked standards using a “risk-first” approach: impact + likelihood + ease of exploitation. SQL injection and memory corruption are ranked highest because they can directly lead to unauthorized access, data theft, or full system compromise, especially in a banking-style application. String/buffer issues are also near the top because they frequently appear in real code and can become memory safety vulnerabilities. Secret exposure is ranked high because it increases the blast radius of any incident (credentials and tokens are often “game over”). Lower-ranked items like data type/value correctness are still important, but they tend to be more contextual or edge-case driven. Assertions are ranked last not because they are unimportant, but because the policy is mainly about preventing misuse—assertions must never be treated as production security controls.</a:t>
            </a: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ENCRYPTION POLICIES</a:t>
            </a:r>
            <a:endParaRPr/>
          </a:p>
        </p:txBody>
      </p:sp>
      <p:sp>
        <p:nvSpPr>
          <p:cNvPr id="182" name="Google Shape;182;p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a:buNone/>
            </a:pPr>
            <a:r>
              <a:rPr lang="en-US" sz="2400" b="1"/>
              <a:t>Encryption at Rest</a:t>
            </a:r>
            <a:br>
              <a:rPr lang="en-US" sz="2400" b="1" dirty="0"/>
            </a:br>
            <a:r>
              <a:rPr lang="en-US" sz="2400" b="1"/>
              <a:t> Protects stored data such as databases and backups using AES-256 encryption. Prevents attackers from reading stolen files.</a:t>
            </a:r>
            <a:endParaRPr lang="en-US" sz="2400"/>
          </a:p>
          <a:p>
            <a:pPr>
              <a:buNone/>
            </a:pPr>
            <a:r>
              <a:rPr lang="en-US" sz="2400" b="1"/>
              <a:t>Encryption in Flight</a:t>
            </a:r>
            <a:br>
              <a:rPr lang="en-US" sz="2400" b="1" dirty="0"/>
            </a:br>
            <a:r>
              <a:rPr lang="en-US" sz="2400" b="1"/>
              <a:t> Protects data as it travels between systems using TLS. Prevents interception and man-in-the-middle attacks.</a:t>
            </a:r>
            <a:endParaRPr lang="en-US" sz="2400"/>
          </a:p>
          <a:p>
            <a:pPr>
              <a:buNone/>
            </a:pPr>
            <a:r>
              <a:rPr lang="en-US" sz="2400" b="1"/>
              <a:t>Encryption in Use</a:t>
            </a:r>
            <a:br>
              <a:rPr lang="en-US" sz="2400" b="1" dirty="0"/>
            </a:br>
            <a:r>
              <a:rPr lang="en-US" sz="2400" b="1"/>
              <a:t> Protects sensitive data in memory using secure enclaves or process isolation. Prevents memory scraping attacks.</a:t>
            </a:r>
            <a:endParaRPr lang="en-US" sz="2400"/>
          </a:p>
          <a:p>
            <a:pPr marL="0" lvl="0" indent="0" algn="l">
              <a:lnSpc>
                <a:spcPct val="90000"/>
              </a:lnSpc>
              <a:spcAft>
                <a:spcPts val="0"/>
              </a:spcAft>
              <a:buSzPts val="1600"/>
              <a:buNone/>
            </a:pPr>
            <a:endParaRPr lang="en-US" sz="1600" dirty="0"/>
          </a:p>
          <a:p>
            <a:pPr marL="228600" lvl="0" indent="-88900" algn="l" rtl="0">
              <a:lnSpc>
                <a:spcPct val="90000"/>
              </a:lnSpc>
              <a:spcBef>
                <a:spcPts val="1000"/>
              </a:spcBef>
              <a:spcAft>
                <a:spcPts val="0"/>
              </a:spcAft>
              <a:buClr>
                <a:schemeClr val="lt1"/>
              </a:buClr>
              <a:buSzPts val="2200"/>
              <a:buNone/>
            </a:pPr>
            <a:endParaRPr/>
          </a:p>
        </p:txBody>
      </p:sp>
      <p:pic>
        <p:nvPicPr>
          <p:cNvPr id="183" name="Google Shape;183;p7"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TRIPLE-A POLICIES</a:t>
            </a:r>
            <a:endParaRPr/>
          </a:p>
        </p:txBody>
      </p:sp>
      <p:sp>
        <p:nvSpPr>
          <p:cNvPr id="189" name="Google Shape;189;p8"/>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a:buSzPts val="2400"/>
            </a:pPr>
            <a:r>
              <a:rPr lang="en-US" sz="2400" b="1" dirty="0"/>
              <a:t>Authentication</a:t>
            </a:r>
            <a:br>
              <a:rPr lang="en-US" sz="2400" b="1" dirty="0"/>
            </a:br>
            <a:r>
              <a:rPr lang="en-US" sz="2400" b="1" dirty="0"/>
              <a:t> Verifies who the user is. All users must log in using strong credentials and MFA when available.</a:t>
            </a:r>
            <a:endParaRPr lang="en-US" sz="2400" dirty="0"/>
          </a:p>
          <a:p>
            <a:pPr>
              <a:buSzPts val="2400"/>
            </a:pPr>
            <a:r>
              <a:rPr lang="en-US" sz="2400" b="1" dirty="0"/>
              <a:t>Authorization</a:t>
            </a:r>
            <a:br>
              <a:rPr lang="en-US" sz="2400" b="1" dirty="0"/>
            </a:br>
            <a:r>
              <a:rPr lang="en-US" sz="2400" b="1" dirty="0"/>
              <a:t> Controls what users can access. Permissions are assigned based on role and least privilege.</a:t>
            </a:r>
            <a:endParaRPr lang="en-US" dirty="0"/>
          </a:p>
          <a:p>
            <a:pPr>
              <a:buSzPts val="2400"/>
            </a:pPr>
            <a:r>
              <a:rPr lang="en-US" sz="2400" b="1" dirty="0"/>
              <a:t>Accounting</a:t>
            </a:r>
            <a:br>
              <a:rPr lang="en-US" sz="2400" b="1" dirty="0"/>
            </a:br>
            <a:r>
              <a:rPr lang="en-US" sz="2400" b="1" dirty="0"/>
              <a:t> Tracks all user activity. System logs record logins, data changes, file access, and permission changes for auditing and incident response</a:t>
            </a:r>
            <a:endParaRPr lang="en-US" dirty="0"/>
          </a:p>
          <a:p>
            <a:pPr marL="228600" lvl="0" indent="-228600" algn="l">
              <a:lnSpc>
                <a:spcPct val="90000"/>
              </a:lnSpc>
              <a:spcBef>
                <a:spcPts val="0"/>
              </a:spcBef>
              <a:spcAft>
                <a:spcPts val="0"/>
              </a:spcAft>
              <a:buClr>
                <a:schemeClr val="lt1"/>
              </a:buClr>
              <a:buSzPts val="2400"/>
              <a:buChar char="•"/>
            </a:pPr>
            <a:endParaRPr lang="en-US" sz="2400" dirty="0"/>
          </a:p>
        </p:txBody>
      </p:sp>
      <p:pic>
        <p:nvPicPr>
          <p:cNvPr id="190" name="Google Shape;190;p8"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121126"/>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a:t>Unit Testing</a:t>
            </a:r>
            <a:endParaRPr/>
          </a:p>
        </p:txBody>
      </p:sp>
      <p:sp>
        <p:nvSpPr>
          <p:cNvPr id="196" name="Google Shape;196;g9504e29505_0_0"/>
          <p:cNvSpPr txBox="1">
            <a:spLocks noGrp="1"/>
          </p:cNvSpPr>
          <p:nvPr>
            <p:ph type="body" idx="1"/>
          </p:nvPr>
        </p:nvSpPr>
        <p:spPr>
          <a:xfrm>
            <a:off x="161307" y="1412768"/>
            <a:ext cx="5456712" cy="4024200"/>
          </a:xfrm>
          <a:prstGeom prst="rect">
            <a:avLst/>
          </a:prstGeom>
          <a:noFill/>
          <a:ln>
            <a:noFill/>
          </a:ln>
        </p:spPr>
        <p:txBody>
          <a:bodyPr spcFirstLastPara="1" wrap="square" lIns="91425" tIns="45700" rIns="91425" bIns="45700" anchor="t" anchorCtr="0">
            <a:noAutofit/>
          </a:bodyPr>
          <a:lstStyle/>
          <a:p>
            <a:pPr indent="-457200">
              <a:buAutoNum type="arabicPeriod"/>
            </a:pPr>
            <a:r>
              <a:rPr lang="en-US" b="1" dirty="0"/>
              <a:t>“Can the vector add one value to an empty collection?”</a:t>
            </a:r>
            <a:endParaRPr lang="en-US"/>
          </a:p>
          <a:p>
            <a:pPr marL="0" indent="0">
              <a:buNone/>
            </a:pPr>
            <a:r>
              <a:rPr lang="en-US" dirty="0"/>
              <a:t>Purpose: verify basic add behavior</a:t>
            </a:r>
          </a:p>
          <a:p>
            <a:pPr marL="0" indent="0">
              <a:buNone/>
            </a:pPr>
            <a:r>
              <a:rPr lang="en-US" dirty="0"/>
              <a:t>Expected: size becomes 1, not empty</a:t>
            </a:r>
          </a:p>
          <a:p>
            <a:pPr marL="0" indent="0">
              <a:buNone/>
            </a:pPr>
            <a:r>
              <a:rPr lang="en-US" dirty="0"/>
              <a:t>Evidence: screenshot of passing test</a:t>
            </a:r>
          </a:p>
          <a:p>
            <a:pPr marL="0" lvl="0" indent="0" algn="l">
              <a:lnSpc>
                <a:spcPct val="90000"/>
              </a:lnSpc>
              <a:spcBef>
                <a:spcPts val="1000"/>
              </a:spcBef>
              <a:spcAft>
                <a:spcPts val="0"/>
              </a:spcAft>
              <a:buSzPts val="1800"/>
              <a:buNone/>
            </a:pPr>
            <a:endParaRPr lang="en-US" dirty="0"/>
          </a:p>
        </p:txBody>
      </p:sp>
      <p:pic>
        <p:nvPicPr>
          <p:cNvPr id="197" name="Google Shape;197;g9504e29505_0_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4" name="Picture 3" descr="A screenshot of a computer program&#10;&#10;AI-generated content may be incorrect.">
            <a:extLst>
              <a:ext uri="{FF2B5EF4-FFF2-40B4-BE49-F238E27FC236}">
                <a16:creationId xmlns:a16="http://schemas.microsoft.com/office/drawing/2014/main" id="{4FC312A6-9EF0-DD20-73EE-D9E111703732}"/>
              </a:ext>
            </a:extLst>
          </p:cNvPr>
          <p:cNvPicPr>
            <a:picLocks noChangeAspect="1"/>
          </p:cNvPicPr>
          <p:nvPr/>
        </p:nvPicPr>
        <p:blipFill>
          <a:blip r:embed="rId5"/>
          <a:stretch>
            <a:fillRect/>
          </a:stretch>
        </p:blipFill>
        <p:spPr>
          <a:xfrm>
            <a:off x="5674548" y="1167741"/>
            <a:ext cx="6513372" cy="5284518"/>
          </a:xfrm>
          <a:prstGeom prst="rect">
            <a:avLst/>
          </a:prstGeom>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54FDB-1ADD-C003-E49E-4FF5E2055E70}"/>
              </a:ext>
            </a:extLst>
          </p:cNvPr>
          <p:cNvSpPr>
            <a:spLocks noGrp="1"/>
          </p:cNvSpPr>
          <p:nvPr>
            <p:ph type="title"/>
          </p:nvPr>
        </p:nvSpPr>
        <p:spPr/>
        <p:txBody>
          <a:bodyPr/>
          <a:lstStyle/>
          <a:p>
            <a:r>
              <a:rPr lang="en-US" dirty="0"/>
              <a:t>Unit Testing</a:t>
            </a:r>
            <a:endParaRPr lang="en-US" dirty="0">
              <a:solidFill>
                <a:srgbClr val="000000"/>
              </a:solidFill>
            </a:endParaRPr>
          </a:p>
          <a:p>
            <a:endParaRPr lang="en-US" dirty="0"/>
          </a:p>
        </p:txBody>
      </p:sp>
      <p:sp>
        <p:nvSpPr>
          <p:cNvPr id="3" name="Text Placeholder 2">
            <a:extLst>
              <a:ext uri="{FF2B5EF4-FFF2-40B4-BE49-F238E27FC236}">
                <a16:creationId xmlns:a16="http://schemas.microsoft.com/office/drawing/2014/main" id="{3CFDEED9-6636-8B2E-2726-DF2AE02A0497}"/>
              </a:ext>
            </a:extLst>
          </p:cNvPr>
          <p:cNvSpPr>
            <a:spLocks noGrp="1"/>
          </p:cNvSpPr>
          <p:nvPr>
            <p:ph type="body" idx="1"/>
          </p:nvPr>
        </p:nvSpPr>
        <p:spPr>
          <a:xfrm>
            <a:off x="685800" y="2194560"/>
            <a:ext cx="5140037" cy="4024125"/>
          </a:xfrm>
        </p:spPr>
        <p:txBody>
          <a:bodyPr/>
          <a:lstStyle/>
          <a:p>
            <a:pPr marL="114300" indent="0">
              <a:buNone/>
            </a:pPr>
            <a:r>
              <a:rPr lang="en-US" b="1" dirty="0"/>
              <a:t>2 “Can the vector add five values correctly?”</a:t>
            </a:r>
            <a:endParaRPr lang="en-US" dirty="0"/>
          </a:p>
          <a:p>
            <a:r>
              <a:rPr lang="en-US" dirty="0"/>
              <a:t>Purpose: verify multiple inserts</a:t>
            </a:r>
          </a:p>
          <a:p>
            <a:r>
              <a:rPr lang="en-US" dirty="0"/>
              <a:t>Expected: size becomes 5</a:t>
            </a:r>
          </a:p>
          <a:p>
            <a:r>
              <a:rPr lang="en-US" dirty="0"/>
              <a:t>Evidence: screenshot</a:t>
            </a:r>
          </a:p>
          <a:p>
            <a:endParaRPr lang="en-US" dirty="0"/>
          </a:p>
        </p:txBody>
      </p:sp>
      <p:pic>
        <p:nvPicPr>
          <p:cNvPr id="5" name="Picture 4" descr="A screenshot of a computer program&#10;&#10;AI-generated content may be incorrect.">
            <a:extLst>
              <a:ext uri="{FF2B5EF4-FFF2-40B4-BE49-F238E27FC236}">
                <a16:creationId xmlns:a16="http://schemas.microsoft.com/office/drawing/2014/main" id="{1BED4E0D-8144-65BA-5064-C4B6A7FCBF49}"/>
              </a:ext>
            </a:extLst>
          </p:cNvPr>
          <p:cNvPicPr>
            <a:picLocks noChangeAspect="1"/>
          </p:cNvPicPr>
          <p:nvPr/>
        </p:nvPicPr>
        <p:blipFill>
          <a:blip r:embed="rId2"/>
          <a:stretch>
            <a:fillRect/>
          </a:stretch>
        </p:blipFill>
        <p:spPr>
          <a:xfrm>
            <a:off x="5674548" y="1900052"/>
            <a:ext cx="6513372" cy="4552207"/>
          </a:xfrm>
          <a:prstGeom prst="rect">
            <a:avLst/>
          </a:prstGeom>
        </p:spPr>
      </p:pic>
    </p:spTree>
    <p:extLst>
      <p:ext uri="{BB962C8B-B14F-4D97-AF65-F5344CB8AC3E}">
        <p14:creationId xmlns:p14="http://schemas.microsoft.com/office/powerpoint/2010/main" val="30162495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4C6A2-F221-D393-58ED-F214A49E29D7}"/>
              </a:ext>
            </a:extLst>
          </p:cNvPr>
          <p:cNvSpPr>
            <a:spLocks noGrp="1"/>
          </p:cNvSpPr>
          <p:nvPr>
            <p:ph type="title"/>
          </p:nvPr>
        </p:nvSpPr>
        <p:spPr>
          <a:xfrm>
            <a:off x="2519548" y="418009"/>
            <a:ext cx="8610600" cy="1293028"/>
          </a:xfrm>
        </p:spPr>
        <p:txBody>
          <a:bodyPr/>
          <a:lstStyle/>
          <a:p>
            <a:r>
              <a:rPr lang="en-US"/>
              <a:t>Unit Testing</a:t>
            </a:r>
            <a:endParaRPr lang="en-US">
              <a:solidFill>
                <a:srgbClr val="000000"/>
              </a:solidFill>
            </a:endParaRPr>
          </a:p>
          <a:p>
            <a:endParaRPr lang="en-US" dirty="0"/>
          </a:p>
        </p:txBody>
      </p:sp>
      <p:sp>
        <p:nvSpPr>
          <p:cNvPr id="3" name="Text Placeholder 2">
            <a:extLst>
              <a:ext uri="{FF2B5EF4-FFF2-40B4-BE49-F238E27FC236}">
                <a16:creationId xmlns:a16="http://schemas.microsoft.com/office/drawing/2014/main" id="{C437AC57-EB17-5368-A8AC-868D3425C2A5}"/>
              </a:ext>
            </a:extLst>
          </p:cNvPr>
          <p:cNvSpPr>
            <a:spLocks noGrp="1"/>
          </p:cNvSpPr>
          <p:nvPr>
            <p:ph type="body" idx="1"/>
          </p:nvPr>
        </p:nvSpPr>
        <p:spPr>
          <a:xfrm>
            <a:off x="210787" y="1709651"/>
            <a:ext cx="5021284" cy="4024125"/>
          </a:xfrm>
        </p:spPr>
        <p:txBody>
          <a:bodyPr/>
          <a:lstStyle/>
          <a:p>
            <a:pPr marL="114300" indent="0">
              <a:buNone/>
            </a:pPr>
            <a:r>
              <a:rPr lang="en-US" b="1" dirty="0"/>
              <a:t>3 “Does calling at() out of bounds throw an exception?” (Negative)</a:t>
            </a:r>
            <a:endParaRPr lang="en-US" dirty="0"/>
          </a:p>
          <a:p>
            <a:r>
              <a:rPr lang="en-US"/>
              <a:t>Purpose: safe bounds checking</a:t>
            </a:r>
          </a:p>
          <a:p>
            <a:r>
              <a:rPr lang="en-US"/>
              <a:t>Expected: std::</a:t>
            </a:r>
            <a:r>
              <a:rPr lang="en-US" err="1"/>
              <a:t>out_of_range</a:t>
            </a:r>
            <a:r>
              <a:rPr lang="en-US"/>
              <a:t> thrown</a:t>
            </a:r>
          </a:p>
          <a:p>
            <a:r>
              <a:rPr lang="en-US"/>
              <a:t>Evidence: screenshot</a:t>
            </a:r>
          </a:p>
          <a:p>
            <a:endParaRPr lang="en-US" dirty="0"/>
          </a:p>
        </p:txBody>
      </p:sp>
      <p:pic>
        <p:nvPicPr>
          <p:cNvPr id="5" name="Picture 4" descr="A screenshot of a computer program&#10;&#10;AI-generated content may be incorrect.">
            <a:extLst>
              <a:ext uri="{FF2B5EF4-FFF2-40B4-BE49-F238E27FC236}">
                <a16:creationId xmlns:a16="http://schemas.microsoft.com/office/drawing/2014/main" id="{A0B38F9A-F7D7-146E-20BA-C108A1DE7F83}"/>
              </a:ext>
            </a:extLst>
          </p:cNvPr>
          <p:cNvPicPr>
            <a:picLocks noChangeAspect="1"/>
          </p:cNvPicPr>
          <p:nvPr/>
        </p:nvPicPr>
        <p:blipFill>
          <a:blip r:embed="rId2"/>
          <a:stretch>
            <a:fillRect/>
          </a:stretch>
        </p:blipFill>
        <p:spPr>
          <a:xfrm>
            <a:off x="5674548" y="1167741"/>
            <a:ext cx="6513372" cy="5284518"/>
          </a:xfrm>
          <a:prstGeom prst="rect">
            <a:avLst/>
          </a:prstGeom>
        </p:spPr>
      </p:pic>
    </p:spTree>
    <p:extLst>
      <p:ext uri="{BB962C8B-B14F-4D97-AF65-F5344CB8AC3E}">
        <p14:creationId xmlns:p14="http://schemas.microsoft.com/office/powerpoint/2010/main" val="38293499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71263-A195-EA2D-224B-4DBD2AA4DC8D}"/>
              </a:ext>
            </a:extLst>
          </p:cNvPr>
          <p:cNvSpPr>
            <a:spLocks noGrp="1"/>
          </p:cNvSpPr>
          <p:nvPr>
            <p:ph type="title"/>
          </p:nvPr>
        </p:nvSpPr>
        <p:spPr>
          <a:xfrm>
            <a:off x="2856016" y="279464"/>
            <a:ext cx="8610600" cy="1293028"/>
          </a:xfrm>
        </p:spPr>
        <p:txBody>
          <a:bodyPr/>
          <a:lstStyle/>
          <a:p>
            <a:r>
              <a:rPr lang="en-US" dirty="0"/>
              <a:t>Unit Testing</a:t>
            </a:r>
          </a:p>
        </p:txBody>
      </p:sp>
      <p:sp>
        <p:nvSpPr>
          <p:cNvPr id="3" name="Text Placeholder 2">
            <a:extLst>
              <a:ext uri="{FF2B5EF4-FFF2-40B4-BE49-F238E27FC236}">
                <a16:creationId xmlns:a16="http://schemas.microsoft.com/office/drawing/2014/main" id="{18373EA6-DFD0-30EA-74BE-690B83E44445}"/>
              </a:ext>
            </a:extLst>
          </p:cNvPr>
          <p:cNvSpPr>
            <a:spLocks noGrp="1"/>
          </p:cNvSpPr>
          <p:nvPr>
            <p:ph type="body" idx="1"/>
          </p:nvPr>
        </p:nvSpPr>
        <p:spPr>
          <a:xfrm>
            <a:off x="685800" y="2194560"/>
            <a:ext cx="4971803" cy="4024125"/>
          </a:xfrm>
        </p:spPr>
        <p:txBody>
          <a:bodyPr/>
          <a:lstStyle/>
          <a:p>
            <a:pPr marL="114300" indent="0">
              <a:buNone/>
            </a:pPr>
            <a:r>
              <a:rPr lang="en-US" b="1" dirty="0"/>
              <a:t>4 “Does resizing larger increase size correctly?”</a:t>
            </a:r>
            <a:endParaRPr lang="en-US" dirty="0"/>
          </a:p>
          <a:p>
            <a:r>
              <a:rPr lang="en-US" dirty="0"/>
              <a:t>Purpose: resize expands container</a:t>
            </a:r>
          </a:p>
          <a:p>
            <a:r>
              <a:rPr lang="en-US" dirty="0"/>
              <a:t>Expected: size increases to target</a:t>
            </a:r>
          </a:p>
          <a:p>
            <a:r>
              <a:rPr lang="en-US" dirty="0"/>
              <a:t>Evidence: screenshot</a:t>
            </a:r>
          </a:p>
          <a:p>
            <a:endParaRPr lang="en-US" dirty="0"/>
          </a:p>
        </p:txBody>
      </p:sp>
      <p:pic>
        <p:nvPicPr>
          <p:cNvPr id="5" name="Picture 4" descr="A screenshot of a computer program&#10;&#10;AI-generated content may be incorrect.">
            <a:extLst>
              <a:ext uri="{FF2B5EF4-FFF2-40B4-BE49-F238E27FC236}">
                <a16:creationId xmlns:a16="http://schemas.microsoft.com/office/drawing/2014/main" id="{491395B5-900A-A18C-04C9-A352199F28BB}"/>
              </a:ext>
            </a:extLst>
          </p:cNvPr>
          <p:cNvPicPr>
            <a:picLocks noChangeAspect="1"/>
          </p:cNvPicPr>
          <p:nvPr/>
        </p:nvPicPr>
        <p:blipFill>
          <a:blip r:embed="rId2"/>
          <a:stretch>
            <a:fillRect/>
          </a:stretch>
        </p:blipFill>
        <p:spPr>
          <a:xfrm>
            <a:off x="5397457" y="1573481"/>
            <a:ext cx="6513372" cy="5284518"/>
          </a:xfrm>
          <a:prstGeom prst="rect">
            <a:avLst/>
          </a:prstGeom>
        </p:spPr>
      </p:pic>
    </p:spTree>
    <p:extLst>
      <p:ext uri="{BB962C8B-B14F-4D97-AF65-F5344CB8AC3E}">
        <p14:creationId xmlns:p14="http://schemas.microsoft.com/office/powerpoint/2010/main" val="42398198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84D2B-8ADB-6532-717D-ED75D3AE7FFB}"/>
              </a:ext>
            </a:extLst>
          </p:cNvPr>
          <p:cNvSpPr>
            <a:spLocks noGrp="1"/>
          </p:cNvSpPr>
          <p:nvPr>
            <p:ph type="title"/>
          </p:nvPr>
        </p:nvSpPr>
        <p:spPr>
          <a:xfrm>
            <a:off x="2905496" y="249776"/>
            <a:ext cx="8610600" cy="1293028"/>
          </a:xfrm>
        </p:spPr>
        <p:txBody>
          <a:bodyPr/>
          <a:lstStyle/>
          <a:p>
            <a:r>
              <a:rPr lang="en-US" dirty="0"/>
              <a:t>Unit Testing</a:t>
            </a:r>
          </a:p>
        </p:txBody>
      </p:sp>
      <p:sp>
        <p:nvSpPr>
          <p:cNvPr id="3" name="Text Placeholder 2">
            <a:extLst>
              <a:ext uri="{FF2B5EF4-FFF2-40B4-BE49-F238E27FC236}">
                <a16:creationId xmlns:a16="http://schemas.microsoft.com/office/drawing/2014/main" id="{A9DD54ED-5892-4236-75AE-1BDB906370D3}"/>
              </a:ext>
            </a:extLst>
          </p:cNvPr>
          <p:cNvSpPr>
            <a:spLocks noGrp="1"/>
          </p:cNvSpPr>
          <p:nvPr>
            <p:ph type="body" idx="1"/>
          </p:nvPr>
        </p:nvSpPr>
        <p:spPr>
          <a:xfrm>
            <a:off x="685800" y="2194560"/>
            <a:ext cx="5377544" cy="4024125"/>
          </a:xfrm>
        </p:spPr>
        <p:txBody>
          <a:bodyPr/>
          <a:lstStyle/>
          <a:p>
            <a:pPr marL="114300" indent="0">
              <a:buNone/>
            </a:pPr>
            <a:r>
              <a:rPr lang="en-US" b="1" dirty="0"/>
              <a:t>5 “Does clear() erase the collection?”</a:t>
            </a:r>
            <a:endParaRPr lang="en-US" dirty="0"/>
          </a:p>
          <a:p>
            <a:r>
              <a:rPr lang="en-US"/>
              <a:t>Purpose: confirm erase behavior</a:t>
            </a:r>
          </a:p>
          <a:p>
            <a:r>
              <a:rPr lang="en-US"/>
              <a:t>Expected: empty + size 0</a:t>
            </a:r>
          </a:p>
          <a:p>
            <a:r>
              <a:rPr lang="en-US"/>
              <a:t>Evidence: screenshot</a:t>
            </a:r>
          </a:p>
          <a:p>
            <a:endParaRPr lang="en-US" dirty="0"/>
          </a:p>
        </p:txBody>
      </p:sp>
      <p:pic>
        <p:nvPicPr>
          <p:cNvPr id="5" name="Picture 4" descr="A screenshot of a computer program&#10;&#10;AI-generated content may be incorrect.">
            <a:extLst>
              <a:ext uri="{FF2B5EF4-FFF2-40B4-BE49-F238E27FC236}">
                <a16:creationId xmlns:a16="http://schemas.microsoft.com/office/drawing/2014/main" id="{B4E64903-55E0-4823-5331-1B6955E7D7C8}"/>
              </a:ext>
            </a:extLst>
          </p:cNvPr>
          <p:cNvPicPr>
            <a:picLocks noChangeAspect="1"/>
          </p:cNvPicPr>
          <p:nvPr/>
        </p:nvPicPr>
        <p:blipFill>
          <a:blip r:embed="rId2"/>
          <a:stretch>
            <a:fillRect/>
          </a:stretch>
        </p:blipFill>
        <p:spPr>
          <a:xfrm>
            <a:off x="5674548" y="1702130"/>
            <a:ext cx="6513372" cy="4750129"/>
          </a:xfrm>
          <a:prstGeom prst="rect">
            <a:avLst/>
          </a:prstGeom>
        </p:spPr>
      </p:pic>
    </p:spTree>
    <p:extLst>
      <p:ext uri="{BB962C8B-B14F-4D97-AF65-F5344CB8AC3E}">
        <p14:creationId xmlns:p14="http://schemas.microsoft.com/office/powerpoint/2010/main" val="25631841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C060A-4FAB-4D8B-40AB-D1CA540D6579}"/>
              </a:ext>
            </a:extLst>
          </p:cNvPr>
          <p:cNvSpPr>
            <a:spLocks noGrp="1"/>
          </p:cNvSpPr>
          <p:nvPr>
            <p:ph type="title"/>
          </p:nvPr>
        </p:nvSpPr>
        <p:spPr>
          <a:xfrm>
            <a:off x="2875808" y="190399"/>
            <a:ext cx="8610600" cy="1293028"/>
          </a:xfrm>
        </p:spPr>
        <p:txBody>
          <a:bodyPr/>
          <a:lstStyle/>
          <a:p>
            <a:r>
              <a:rPr lang="en-US" dirty="0"/>
              <a:t>Unit Testing</a:t>
            </a:r>
          </a:p>
        </p:txBody>
      </p:sp>
      <p:sp>
        <p:nvSpPr>
          <p:cNvPr id="3" name="Text Placeholder 2">
            <a:extLst>
              <a:ext uri="{FF2B5EF4-FFF2-40B4-BE49-F238E27FC236}">
                <a16:creationId xmlns:a16="http://schemas.microsoft.com/office/drawing/2014/main" id="{8A73886F-1BCF-3185-5CA5-F03AB243BF29}"/>
              </a:ext>
            </a:extLst>
          </p:cNvPr>
          <p:cNvSpPr>
            <a:spLocks noGrp="1"/>
          </p:cNvSpPr>
          <p:nvPr>
            <p:ph type="body" idx="1"/>
          </p:nvPr>
        </p:nvSpPr>
        <p:spPr>
          <a:xfrm>
            <a:off x="349332" y="2115391"/>
            <a:ext cx="5041076" cy="4024125"/>
          </a:xfrm>
        </p:spPr>
        <p:txBody>
          <a:bodyPr/>
          <a:lstStyle/>
          <a:p>
            <a:pPr marL="114300" indent="0">
              <a:buNone/>
            </a:pPr>
            <a:r>
              <a:rPr lang="en-US" b="1" dirty="0"/>
              <a:t>6 “Does reserve() increase capacity without changing size?”</a:t>
            </a:r>
            <a:endParaRPr lang="en-US" dirty="0"/>
          </a:p>
          <a:p>
            <a:r>
              <a:rPr lang="en-US"/>
              <a:t>Purpose: prevent logic mistakes</a:t>
            </a:r>
          </a:p>
          <a:p>
            <a:r>
              <a:rPr lang="en-US"/>
              <a:t>Expected: capacity increases, size unchanged</a:t>
            </a:r>
          </a:p>
          <a:p>
            <a:r>
              <a:rPr lang="en-US" dirty="0"/>
              <a:t>Evidence: screenshot</a:t>
            </a:r>
          </a:p>
          <a:p>
            <a:endParaRPr lang="en-US" dirty="0"/>
          </a:p>
        </p:txBody>
      </p:sp>
      <p:pic>
        <p:nvPicPr>
          <p:cNvPr id="5" name="Picture 4" descr="A screenshot of a computer program&#10;&#10;AI-generated content may be incorrect.">
            <a:extLst>
              <a:ext uri="{FF2B5EF4-FFF2-40B4-BE49-F238E27FC236}">
                <a16:creationId xmlns:a16="http://schemas.microsoft.com/office/drawing/2014/main" id="{ACCF3374-4D73-D648-6612-90EDECFF5E97}"/>
              </a:ext>
            </a:extLst>
          </p:cNvPr>
          <p:cNvPicPr>
            <a:picLocks noChangeAspect="1"/>
          </p:cNvPicPr>
          <p:nvPr/>
        </p:nvPicPr>
        <p:blipFill>
          <a:blip r:embed="rId2"/>
          <a:stretch>
            <a:fillRect/>
          </a:stretch>
        </p:blipFill>
        <p:spPr>
          <a:xfrm>
            <a:off x="5437042" y="1286495"/>
            <a:ext cx="6552956" cy="5522024"/>
          </a:xfrm>
          <a:prstGeom prst="rect">
            <a:avLst/>
          </a:prstGeom>
        </p:spPr>
      </p:pic>
    </p:spTree>
    <p:extLst>
      <p:ext uri="{BB962C8B-B14F-4D97-AF65-F5344CB8AC3E}">
        <p14:creationId xmlns:p14="http://schemas.microsoft.com/office/powerpoint/2010/main" val="14557747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AUTOMATION SUMMARY</a:t>
            </a:r>
            <a:endParaRPr/>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type="body" idx="1"/>
          </p:nvPr>
        </p:nvPicPr>
        <p:blipFill rotWithShape="1">
          <a:blip r:embed="rId4">
            <a:alphaModFix/>
          </a:blip>
          <a:srcRect/>
          <a:stretch/>
        </p:blipFill>
        <p:spPr>
          <a:xfrm>
            <a:off x="2127250" y="2199481"/>
            <a:ext cx="7937500" cy="4013200"/>
          </a:xfrm>
          <a:prstGeom prst="rect">
            <a:avLst/>
          </a:prstGeom>
          <a:noFill/>
          <a:ln>
            <a:noFill/>
          </a:ln>
        </p:spPr>
      </p:pic>
      <p:pic>
        <p:nvPicPr>
          <p:cNvPr id="204" name="Google Shape;204;p9"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364921" y="-200361"/>
            <a:ext cx="6702105"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TOOLS</a:t>
            </a:r>
            <a:endParaRPr/>
          </a:p>
        </p:txBody>
      </p:sp>
      <p:pic>
        <p:nvPicPr>
          <p:cNvPr id="211" name="Google Shape;211;p1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51" name="Table 50">
            <a:extLst>
              <a:ext uri="{FF2B5EF4-FFF2-40B4-BE49-F238E27FC236}">
                <a16:creationId xmlns:a16="http://schemas.microsoft.com/office/drawing/2014/main" id="{1C0935B8-BC4B-7FE6-B0FF-FEF145591979}"/>
              </a:ext>
            </a:extLst>
          </p:cNvPr>
          <p:cNvGraphicFramePr>
            <a:graphicFrameLocks noGrp="1"/>
          </p:cNvGraphicFramePr>
          <p:nvPr>
            <p:extLst>
              <p:ext uri="{D42A27DB-BD31-4B8C-83A1-F6EECF244321}">
                <p14:modId xmlns:p14="http://schemas.microsoft.com/office/powerpoint/2010/main" val="93078087"/>
              </p:ext>
            </p:extLst>
          </p:nvPr>
        </p:nvGraphicFramePr>
        <p:xfrm>
          <a:off x="132826" y="873852"/>
          <a:ext cx="12059448" cy="6000795"/>
        </p:xfrm>
        <a:graphic>
          <a:graphicData uri="http://schemas.openxmlformats.org/drawingml/2006/table">
            <a:tbl>
              <a:tblPr bandRow="1">
                <a:tableStyleId>{802198C4-3087-4945-87E3-76CBB3509B7E}</a:tableStyleId>
              </a:tblPr>
              <a:tblGrid>
                <a:gridCol w="2393754">
                  <a:extLst>
                    <a:ext uri="{9D8B030D-6E8A-4147-A177-3AD203B41FA5}">
                      <a16:colId xmlns:a16="http://schemas.microsoft.com/office/drawing/2014/main" val="2068429837"/>
                    </a:ext>
                  </a:extLst>
                </a:gridCol>
                <a:gridCol w="4832847">
                  <a:extLst>
                    <a:ext uri="{9D8B030D-6E8A-4147-A177-3AD203B41FA5}">
                      <a16:colId xmlns:a16="http://schemas.microsoft.com/office/drawing/2014/main" val="2069235831"/>
                    </a:ext>
                  </a:extLst>
                </a:gridCol>
                <a:gridCol w="4832847">
                  <a:extLst>
                    <a:ext uri="{9D8B030D-6E8A-4147-A177-3AD203B41FA5}">
                      <a16:colId xmlns:a16="http://schemas.microsoft.com/office/drawing/2014/main" val="2745011273"/>
                    </a:ext>
                  </a:extLst>
                </a:gridCol>
              </a:tblGrid>
              <a:tr h="602751">
                <a:tc>
                  <a:txBody>
                    <a:bodyPr/>
                    <a:lstStyle/>
                    <a:p>
                      <a:pPr>
                        <a:buNone/>
                      </a:pPr>
                      <a:r>
                        <a:rPr lang="en-US" sz="2000" dirty="0">
                          <a:solidFill>
                            <a:schemeClr val="bg1"/>
                          </a:solidFill>
                        </a:rPr>
                        <a:t>Pipeline Stage</a:t>
                      </a:r>
                    </a:p>
                  </a:txBody>
                  <a:tcPr anchor="ctr">
                    <a:lnL>
                      <a:noFill/>
                    </a:lnL>
                    <a:lnR>
                      <a:noFill/>
                    </a:lnR>
                    <a:lnT>
                      <a:noFill/>
                    </a:lnT>
                    <a:lnB>
                      <a:noFill/>
                    </a:lnB>
                    <a:solidFill>
                      <a:schemeClr val="accent1"/>
                    </a:solidFill>
                  </a:tcPr>
                </a:tc>
                <a:tc>
                  <a:txBody>
                    <a:bodyPr/>
                    <a:lstStyle/>
                    <a:p>
                      <a:pPr>
                        <a:buNone/>
                      </a:pPr>
                      <a:r>
                        <a:rPr lang="en-US" sz="2000" dirty="0">
                          <a:solidFill>
                            <a:schemeClr val="bg1"/>
                          </a:solidFill>
                        </a:rPr>
                        <a:t>Tools Used</a:t>
                      </a:r>
                    </a:p>
                  </a:txBody>
                  <a:tcPr anchor="ctr">
                    <a:lnL>
                      <a:noFill/>
                    </a:lnL>
                    <a:lnR>
                      <a:noFill/>
                    </a:lnR>
                    <a:lnT>
                      <a:noFill/>
                    </a:lnT>
                    <a:lnB>
                      <a:noFill/>
                    </a:lnB>
                    <a:solidFill>
                      <a:schemeClr val="accent1"/>
                    </a:solidFill>
                  </a:tcPr>
                </a:tc>
                <a:tc>
                  <a:txBody>
                    <a:bodyPr/>
                    <a:lstStyle/>
                    <a:p>
                      <a:pPr>
                        <a:buNone/>
                      </a:pPr>
                      <a:r>
                        <a:rPr lang="en-US" sz="2000" dirty="0">
                          <a:solidFill>
                            <a:schemeClr val="bg1"/>
                          </a:solidFill>
                        </a:rPr>
                        <a:t>Purpose</a:t>
                      </a:r>
                    </a:p>
                  </a:txBody>
                  <a:tcPr anchor="ctr">
                    <a:lnL>
                      <a:noFill/>
                    </a:lnL>
                    <a:lnR>
                      <a:noFill/>
                    </a:lnR>
                    <a:lnT>
                      <a:noFill/>
                    </a:lnT>
                    <a:lnB>
                      <a:noFill/>
                    </a:lnB>
                    <a:solidFill>
                      <a:schemeClr val="accent1"/>
                    </a:solidFill>
                  </a:tcPr>
                </a:tc>
                <a:extLst>
                  <a:ext uri="{0D108BD9-81ED-4DB2-BD59-A6C34878D82A}">
                    <a16:rowId xmlns:a16="http://schemas.microsoft.com/office/drawing/2014/main" val="2040532175"/>
                  </a:ext>
                </a:extLst>
              </a:tr>
              <a:tr h="602751">
                <a:tc>
                  <a:txBody>
                    <a:bodyPr/>
                    <a:lstStyle/>
                    <a:p>
                      <a:pPr>
                        <a:buNone/>
                      </a:pPr>
                      <a:r>
                        <a:rPr lang="en-US" sz="2000" dirty="0">
                          <a:solidFill>
                            <a:schemeClr val="bg1"/>
                          </a:solidFill>
                        </a:rPr>
                        <a:t>Plan</a:t>
                      </a:r>
                    </a:p>
                  </a:txBody>
                  <a:tcPr anchor="ctr">
                    <a:lnL>
                      <a:noFill/>
                    </a:lnL>
                    <a:lnR>
                      <a:noFill/>
                    </a:lnR>
                    <a:lnT>
                      <a:noFill/>
                    </a:lnT>
                    <a:lnB>
                      <a:noFill/>
                    </a:lnB>
                    <a:noFill/>
                  </a:tcPr>
                </a:tc>
                <a:tc>
                  <a:txBody>
                    <a:bodyPr/>
                    <a:lstStyle/>
                    <a:p>
                      <a:pPr>
                        <a:buNone/>
                      </a:pPr>
                      <a:r>
                        <a:rPr lang="en-US" sz="2000" dirty="0">
                          <a:solidFill>
                            <a:schemeClr val="bg1"/>
                          </a:solidFill>
                        </a:rPr>
                        <a:t>Threat modeling tools, security training platforms</a:t>
                      </a:r>
                    </a:p>
                  </a:txBody>
                  <a:tcPr anchor="ctr">
                    <a:lnL>
                      <a:noFill/>
                    </a:lnL>
                    <a:lnR>
                      <a:noFill/>
                    </a:lnR>
                    <a:lnT>
                      <a:noFill/>
                    </a:lnT>
                    <a:lnB>
                      <a:noFill/>
                    </a:lnB>
                    <a:noFill/>
                  </a:tcPr>
                </a:tc>
                <a:tc>
                  <a:txBody>
                    <a:bodyPr/>
                    <a:lstStyle/>
                    <a:p>
                      <a:pPr>
                        <a:buNone/>
                      </a:pPr>
                      <a:r>
                        <a:rPr lang="en-US" sz="2000" dirty="0">
                          <a:solidFill>
                            <a:schemeClr val="bg1"/>
                          </a:solidFill>
                        </a:rPr>
                        <a:t>Identify risks early</a:t>
                      </a:r>
                    </a:p>
                  </a:txBody>
                  <a:tcPr anchor="ctr">
                    <a:lnL>
                      <a:noFill/>
                    </a:lnL>
                    <a:lnR>
                      <a:noFill/>
                    </a:lnR>
                    <a:lnT>
                      <a:noFill/>
                    </a:lnT>
                    <a:lnB>
                      <a:noFill/>
                    </a:lnB>
                    <a:noFill/>
                  </a:tcPr>
                </a:tc>
                <a:extLst>
                  <a:ext uri="{0D108BD9-81ED-4DB2-BD59-A6C34878D82A}">
                    <a16:rowId xmlns:a16="http://schemas.microsoft.com/office/drawing/2014/main" val="3636824101"/>
                  </a:ext>
                </a:extLst>
              </a:tr>
              <a:tr h="602751">
                <a:tc>
                  <a:txBody>
                    <a:bodyPr/>
                    <a:lstStyle/>
                    <a:p>
                      <a:pPr>
                        <a:buNone/>
                      </a:pPr>
                      <a:r>
                        <a:rPr lang="en-US" sz="2000" dirty="0">
                          <a:solidFill>
                            <a:schemeClr val="bg1"/>
                          </a:solidFill>
                        </a:rPr>
                        <a:t>Create</a:t>
                      </a:r>
                    </a:p>
                  </a:txBody>
                  <a:tcPr anchor="ctr">
                    <a:lnL>
                      <a:noFill/>
                    </a:lnL>
                    <a:lnR>
                      <a:noFill/>
                    </a:lnR>
                    <a:lnT>
                      <a:noFill/>
                    </a:lnT>
                    <a:lnB>
                      <a:noFill/>
                    </a:lnB>
                    <a:noFill/>
                  </a:tcPr>
                </a:tc>
                <a:tc>
                  <a:txBody>
                    <a:bodyPr/>
                    <a:lstStyle/>
                    <a:p>
                      <a:pPr>
                        <a:buNone/>
                      </a:pPr>
                      <a:r>
                        <a:rPr lang="en-US" sz="2000" dirty="0">
                          <a:solidFill>
                            <a:schemeClr val="bg1"/>
                          </a:solidFill>
                        </a:rPr>
                        <a:t>IDE security plugins, compiler warnings</a:t>
                      </a:r>
                    </a:p>
                  </a:txBody>
                  <a:tcPr anchor="ctr">
                    <a:lnL>
                      <a:noFill/>
                    </a:lnL>
                    <a:lnR>
                      <a:noFill/>
                    </a:lnR>
                    <a:lnT>
                      <a:noFill/>
                    </a:lnT>
                    <a:lnB>
                      <a:noFill/>
                    </a:lnB>
                    <a:noFill/>
                  </a:tcPr>
                </a:tc>
                <a:tc>
                  <a:txBody>
                    <a:bodyPr/>
                    <a:lstStyle/>
                    <a:p>
                      <a:pPr>
                        <a:buNone/>
                      </a:pPr>
                      <a:r>
                        <a:rPr lang="en-US" sz="2000" dirty="0">
                          <a:solidFill>
                            <a:schemeClr val="bg1"/>
                          </a:solidFill>
                        </a:rPr>
                        <a:t>Detect unsafe code</a:t>
                      </a:r>
                    </a:p>
                  </a:txBody>
                  <a:tcPr anchor="ctr">
                    <a:lnL>
                      <a:noFill/>
                    </a:lnL>
                    <a:lnR>
                      <a:noFill/>
                    </a:lnR>
                    <a:lnT>
                      <a:noFill/>
                    </a:lnT>
                    <a:lnB>
                      <a:noFill/>
                    </a:lnB>
                    <a:noFill/>
                  </a:tcPr>
                </a:tc>
                <a:extLst>
                  <a:ext uri="{0D108BD9-81ED-4DB2-BD59-A6C34878D82A}">
                    <a16:rowId xmlns:a16="http://schemas.microsoft.com/office/drawing/2014/main" val="2057998535"/>
                  </a:ext>
                </a:extLst>
              </a:tr>
              <a:tr h="602751">
                <a:tc>
                  <a:txBody>
                    <a:bodyPr/>
                    <a:lstStyle/>
                    <a:p>
                      <a:pPr>
                        <a:buNone/>
                      </a:pPr>
                      <a:r>
                        <a:rPr lang="en-US" sz="2000" dirty="0">
                          <a:solidFill>
                            <a:schemeClr val="bg1"/>
                          </a:solidFill>
                        </a:rPr>
                        <a:t>Verify</a:t>
                      </a:r>
                    </a:p>
                  </a:txBody>
                  <a:tcPr anchor="ctr">
                    <a:lnL>
                      <a:noFill/>
                    </a:lnL>
                    <a:lnR>
                      <a:noFill/>
                    </a:lnR>
                    <a:lnT>
                      <a:noFill/>
                    </a:lnT>
                    <a:lnB>
                      <a:noFill/>
                    </a:lnB>
                    <a:noFill/>
                  </a:tcPr>
                </a:tc>
                <a:tc>
                  <a:txBody>
                    <a:bodyPr/>
                    <a:lstStyle/>
                    <a:p>
                      <a:pPr>
                        <a:buNone/>
                      </a:pPr>
                      <a:r>
                        <a:rPr lang="en-US" sz="2000" b="1" err="1">
                          <a:solidFill>
                            <a:schemeClr val="bg1"/>
                          </a:solidFill>
                        </a:rPr>
                        <a:t>Cppcheck</a:t>
                      </a:r>
                      <a:r>
                        <a:rPr lang="en-US" sz="2000" b="1" dirty="0">
                          <a:solidFill>
                            <a:schemeClr val="bg1"/>
                          </a:solidFill>
                        </a:rPr>
                        <a:t>, SonarQube, SAST, DAST, SCA</a:t>
                      </a:r>
                      <a:endParaRPr lang="en-US" sz="2000" dirty="0">
                        <a:solidFill>
                          <a:schemeClr val="bg1"/>
                        </a:solidFill>
                      </a:endParaRPr>
                    </a:p>
                  </a:txBody>
                  <a:tcPr anchor="ctr">
                    <a:lnL>
                      <a:noFill/>
                    </a:lnL>
                    <a:lnR>
                      <a:noFill/>
                    </a:lnR>
                    <a:lnT>
                      <a:noFill/>
                    </a:lnT>
                    <a:lnB>
                      <a:noFill/>
                    </a:lnB>
                    <a:noFill/>
                  </a:tcPr>
                </a:tc>
                <a:tc>
                  <a:txBody>
                    <a:bodyPr/>
                    <a:lstStyle/>
                    <a:p>
                      <a:pPr>
                        <a:buNone/>
                      </a:pPr>
                      <a:r>
                        <a:rPr lang="en-US" sz="2000" dirty="0">
                          <a:solidFill>
                            <a:schemeClr val="bg1"/>
                          </a:solidFill>
                        </a:rPr>
                        <a:t>Find vulnerabilities</a:t>
                      </a:r>
                    </a:p>
                  </a:txBody>
                  <a:tcPr anchor="ctr">
                    <a:lnL>
                      <a:noFill/>
                    </a:lnL>
                    <a:lnR>
                      <a:noFill/>
                    </a:lnR>
                    <a:lnT>
                      <a:noFill/>
                    </a:lnT>
                    <a:lnB>
                      <a:noFill/>
                    </a:lnB>
                    <a:noFill/>
                  </a:tcPr>
                </a:tc>
                <a:extLst>
                  <a:ext uri="{0D108BD9-81ED-4DB2-BD59-A6C34878D82A}">
                    <a16:rowId xmlns:a16="http://schemas.microsoft.com/office/drawing/2014/main" val="2184730017"/>
                  </a:ext>
                </a:extLst>
              </a:tr>
              <a:tr h="602751">
                <a:tc>
                  <a:txBody>
                    <a:bodyPr/>
                    <a:lstStyle/>
                    <a:p>
                      <a:pPr>
                        <a:buNone/>
                      </a:pPr>
                      <a:r>
                        <a:rPr lang="en-US" sz="2000" dirty="0">
                          <a:solidFill>
                            <a:schemeClr val="bg1"/>
                          </a:solidFill>
                        </a:rPr>
                        <a:t>Pre-Production</a:t>
                      </a:r>
                    </a:p>
                  </a:txBody>
                  <a:tcPr anchor="ctr">
                    <a:lnL>
                      <a:noFill/>
                    </a:lnL>
                    <a:lnR>
                      <a:noFill/>
                    </a:lnR>
                    <a:lnT>
                      <a:noFill/>
                    </a:lnT>
                    <a:lnB>
                      <a:noFill/>
                    </a:lnB>
                    <a:noFill/>
                  </a:tcPr>
                </a:tc>
                <a:tc>
                  <a:txBody>
                    <a:bodyPr/>
                    <a:lstStyle/>
                    <a:p>
                      <a:pPr>
                        <a:buNone/>
                      </a:pPr>
                      <a:r>
                        <a:rPr lang="en-US" sz="2000" dirty="0">
                          <a:solidFill>
                            <a:schemeClr val="bg1"/>
                          </a:solidFill>
                        </a:rPr>
                        <a:t>Fuzzing tools, integration tests</a:t>
                      </a:r>
                    </a:p>
                  </a:txBody>
                  <a:tcPr anchor="ctr">
                    <a:lnL>
                      <a:noFill/>
                    </a:lnL>
                    <a:lnR>
                      <a:noFill/>
                    </a:lnR>
                    <a:lnT>
                      <a:noFill/>
                    </a:lnT>
                    <a:lnB>
                      <a:noFill/>
                    </a:lnB>
                    <a:noFill/>
                  </a:tcPr>
                </a:tc>
                <a:tc>
                  <a:txBody>
                    <a:bodyPr/>
                    <a:lstStyle/>
                    <a:p>
                      <a:pPr>
                        <a:buNone/>
                      </a:pPr>
                      <a:r>
                        <a:rPr lang="en-US" sz="2000" dirty="0">
                          <a:solidFill>
                            <a:schemeClr val="bg1"/>
                          </a:solidFill>
                        </a:rPr>
                        <a:t>Stress-test systems</a:t>
                      </a:r>
                    </a:p>
                  </a:txBody>
                  <a:tcPr anchor="ctr">
                    <a:lnL>
                      <a:noFill/>
                    </a:lnL>
                    <a:lnR>
                      <a:noFill/>
                    </a:lnR>
                    <a:lnT>
                      <a:noFill/>
                    </a:lnT>
                    <a:lnB>
                      <a:noFill/>
                    </a:lnB>
                    <a:noFill/>
                  </a:tcPr>
                </a:tc>
                <a:extLst>
                  <a:ext uri="{0D108BD9-81ED-4DB2-BD59-A6C34878D82A}">
                    <a16:rowId xmlns:a16="http://schemas.microsoft.com/office/drawing/2014/main" val="314069496"/>
                  </a:ext>
                </a:extLst>
              </a:tr>
              <a:tr h="358781">
                <a:tc>
                  <a:txBody>
                    <a:bodyPr/>
                    <a:lstStyle/>
                    <a:p>
                      <a:pPr>
                        <a:buNone/>
                      </a:pPr>
                      <a:r>
                        <a:rPr lang="en-US" sz="2000" dirty="0">
                          <a:solidFill>
                            <a:schemeClr val="bg1"/>
                          </a:solidFill>
                        </a:rPr>
                        <a:t>Release</a:t>
                      </a:r>
                    </a:p>
                  </a:txBody>
                  <a:tcPr anchor="ctr">
                    <a:lnL>
                      <a:noFill/>
                    </a:lnL>
                    <a:lnR>
                      <a:noFill/>
                    </a:lnR>
                    <a:lnT>
                      <a:noFill/>
                    </a:lnT>
                    <a:lnB>
                      <a:noFill/>
                    </a:lnB>
                    <a:noFill/>
                  </a:tcPr>
                </a:tc>
                <a:tc>
                  <a:txBody>
                    <a:bodyPr/>
                    <a:lstStyle/>
                    <a:p>
                      <a:pPr>
                        <a:buNone/>
                      </a:pPr>
                      <a:r>
                        <a:rPr lang="en-US" sz="2000" dirty="0">
                          <a:solidFill>
                            <a:schemeClr val="bg1"/>
                          </a:solidFill>
                        </a:rPr>
                        <a:t>Code signing tools</a:t>
                      </a:r>
                    </a:p>
                  </a:txBody>
                  <a:tcPr anchor="ctr">
                    <a:lnL>
                      <a:noFill/>
                    </a:lnL>
                    <a:lnR>
                      <a:noFill/>
                    </a:lnR>
                    <a:lnT>
                      <a:noFill/>
                    </a:lnT>
                    <a:lnB>
                      <a:noFill/>
                    </a:lnB>
                    <a:noFill/>
                  </a:tcPr>
                </a:tc>
                <a:tc>
                  <a:txBody>
                    <a:bodyPr/>
                    <a:lstStyle/>
                    <a:p>
                      <a:pPr>
                        <a:buNone/>
                      </a:pPr>
                      <a:r>
                        <a:rPr lang="en-US" sz="2000" dirty="0">
                          <a:solidFill>
                            <a:schemeClr val="bg1"/>
                          </a:solidFill>
                        </a:rPr>
                        <a:t>Ensure integrity</a:t>
                      </a:r>
                    </a:p>
                  </a:txBody>
                  <a:tcPr anchor="ctr">
                    <a:lnL>
                      <a:noFill/>
                    </a:lnL>
                    <a:lnR>
                      <a:noFill/>
                    </a:lnR>
                    <a:lnT>
                      <a:noFill/>
                    </a:lnT>
                    <a:lnB>
                      <a:noFill/>
                    </a:lnB>
                    <a:noFill/>
                  </a:tcPr>
                </a:tc>
                <a:extLst>
                  <a:ext uri="{0D108BD9-81ED-4DB2-BD59-A6C34878D82A}">
                    <a16:rowId xmlns:a16="http://schemas.microsoft.com/office/drawing/2014/main" val="2163772288"/>
                  </a:ext>
                </a:extLst>
              </a:tr>
              <a:tr h="358781">
                <a:tc>
                  <a:txBody>
                    <a:bodyPr/>
                    <a:lstStyle/>
                    <a:p>
                      <a:pPr>
                        <a:buNone/>
                      </a:pPr>
                      <a:r>
                        <a:rPr lang="en-US" sz="2000" dirty="0">
                          <a:solidFill>
                            <a:schemeClr val="bg1"/>
                          </a:solidFill>
                        </a:rPr>
                        <a:t>Prevent</a:t>
                      </a:r>
                    </a:p>
                  </a:txBody>
                  <a:tcPr anchor="ctr">
                    <a:lnL>
                      <a:noFill/>
                    </a:lnL>
                    <a:lnR>
                      <a:noFill/>
                    </a:lnR>
                    <a:lnT>
                      <a:noFill/>
                    </a:lnT>
                    <a:lnB>
                      <a:noFill/>
                    </a:lnB>
                    <a:noFill/>
                  </a:tcPr>
                </a:tc>
                <a:tc>
                  <a:txBody>
                    <a:bodyPr/>
                    <a:lstStyle/>
                    <a:p>
                      <a:pPr>
                        <a:buNone/>
                      </a:pPr>
                      <a:r>
                        <a:rPr lang="en-US" sz="2000" dirty="0">
                          <a:solidFill>
                            <a:schemeClr val="bg1"/>
                          </a:solidFill>
                        </a:rPr>
                        <a:t>Signature verification, WAF</a:t>
                      </a:r>
                    </a:p>
                  </a:txBody>
                  <a:tcPr anchor="ctr">
                    <a:lnL>
                      <a:noFill/>
                    </a:lnL>
                    <a:lnR>
                      <a:noFill/>
                    </a:lnR>
                    <a:lnT>
                      <a:noFill/>
                    </a:lnT>
                    <a:lnB>
                      <a:noFill/>
                    </a:lnB>
                    <a:noFill/>
                  </a:tcPr>
                </a:tc>
                <a:tc>
                  <a:txBody>
                    <a:bodyPr/>
                    <a:lstStyle/>
                    <a:p>
                      <a:pPr>
                        <a:buNone/>
                      </a:pPr>
                      <a:r>
                        <a:rPr lang="en-US" sz="2000" dirty="0">
                          <a:solidFill>
                            <a:schemeClr val="bg1"/>
                          </a:solidFill>
                        </a:rPr>
                        <a:t>Block malicious input</a:t>
                      </a:r>
                    </a:p>
                  </a:txBody>
                  <a:tcPr anchor="ctr">
                    <a:lnL>
                      <a:noFill/>
                    </a:lnL>
                    <a:lnR>
                      <a:noFill/>
                    </a:lnR>
                    <a:lnT>
                      <a:noFill/>
                    </a:lnT>
                    <a:lnB>
                      <a:noFill/>
                    </a:lnB>
                    <a:noFill/>
                  </a:tcPr>
                </a:tc>
                <a:extLst>
                  <a:ext uri="{0D108BD9-81ED-4DB2-BD59-A6C34878D82A}">
                    <a16:rowId xmlns:a16="http://schemas.microsoft.com/office/drawing/2014/main" val="3118926156"/>
                  </a:ext>
                </a:extLst>
              </a:tr>
              <a:tr h="602751">
                <a:tc>
                  <a:txBody>
                    <a:bodyPr/>
                    <a:lstStyle/>
                    <a:p>
                      <a:pPr>
                        <a:buNone/>
                      </a:pPr>
                      <a:r>
                        <a:rPr lang="en-US" sz="2000" dirty="0">
                          <a:solidFill>
                            <a:schemeClr val="bg1"/>
                          </a:solidFill>
                        </a:rPr>
                        <a:t>Detect</a:t>
                      </a:r>
                    </a:p>
                  </a:txBody>
                  <a:tcPr anchor="ctr">
                    <a:lnL>
                      <a:noFill/>
                    </a:lnL>
                    <a:lnR>
                      <a:noFill/>
                    </a:lnR>
                    <a:lnT>
                      <a:noFill/>
                    </a:lnT>
                    <a:lnB>
                      <a:noFill/>
                    </a:lnB>
                    <a:noFill/>
                  </a:tcPr>
                </a:tc>
                <a:tc>
                  <a:txBody>
                    <a:bodyPr/>
                    <a:lstStyle/>
                    <a:p>
                      <a:pPr>
                        <a:buNone/>
                      </a:pPr>
                      <a:r>
                        <a:rPr lang="en-US" sz="2000" dirty="0">
                          <a:solidFill>
                            <a:schemeClr val="bg1"/>
                          </a:solidFill>
                        </a:rPr>
                        <a:t>RASP, network monitoring, UEBA</a:t>
                      </a:r>
                    </a:p>
                  </a:txBody>
                  <a:tcPr anchor="ctr">
                    <a:lnL>
                      <a:noFill/>
                    </a:lnL>
                    <a:lnR>
                      <a:noFill/>
                    </a:lnR>
                    <a:lnT>
                      <a:noFill/>
                    </a:lnT>
                    <a:lnB>
                      <a:noFill/>
                    </a:lnB>
                    <a:noFill/>
                  </a:tcPr>
                </a:tc>
                <a:tc>
                  <a:txBody>
                    <a:bodyPr/>
                    <a:lstStyle/>
                    <a:p>
                      <a:pPr>
                        <a:buNone/>
                      </a:pPr>
                      <a:r>
                        <a:rPr lang="en-US" sz="2000" dirty="0">
                          <a:solidFill>
                            <a:schemeClr val="bg1"/>
                          </a:solidFill>
                        </a:rPr>
                        <a:t>Monitor for attacks</a:t>
                      </a:r>
                    </a:p>
                  </a:txBody>
                  <a:tcPr anchor="ctr">
                    <a:lnL>
                      <a:noFill/>
                    </a:lnL>
                    <a:lnR>
                      <a:noFill/>
                    </a:lnR>
                    <a:lnT>
                      <a:noFill/>
                    </a:lnT>
                    <a:lnB>
                      <a:noFill/>
                    </a:lnB>
                    <a:noFill/>
                  </a:tcPr>
                </a:tc>
                <a:extLst>
                  <a:ext uri="{0D108BD9-81ED-4DB2-BD59-A6C34878D82A}">
                    <a16:rowId xmlns:a16="http://schemas.microsoft.com/office/drawing/2014/main" val="4127816975"/>
                  </a:ext>
                </a:extLst>
              </a:tr>
              <a:tr h="358781">
                <a:tc>
                  <a:txBody>
                    <a:bodyPr/>
                    <a:lstStyle/>
                    <a:p>
                      <a:pPr>
                        <a:buNone/>
                      </a:pPr>
                      <a:r>
                        <a:rPr lang="en-US" sz="2000" dirty="0">
                          <a:solidFill>
                            <a:schemeClr val="bg1"/>
                          </a:solidFill>
                        </a:rPr>
                        <a:t>Respond</a:t>
                      </a:r>
                    </a:p>
                  </a:txBody>
                  <a:tcPr anchor="ctr">
                    <a:lnL>
                      <a:noFill/>
                    </a:lnL>
                    <a:lnR>
                      <a:noFill/>
                    </a:lnR>
                    <a:lnT>
                      <a:noFill/>
                    </a:lnT>
                    <a:lnB>
                      <a:noFill/>
                    </a:lnB>
                    <a:noFill/>
                  </a:tcPr>
                </a:tc>
                <a:tc>
                  <a:txBody>
                    <a:bodyPr/>
                    <a:lstStyle/>
                    <a:p>
                      <a:pPr>
                        <a:buNone/>
                      </a:pPr>
                      <a:r>
                        <a:rPr lang="en-US" sz="2000" dirty="0">
                          <a:solidFill>
                            <a:schemeClr val="bg1"/>
                          </a:solidFill>
                        </a:rPr>
                        <a:t>SOAR tools, WAF rules</a:t>
                      </a:r>
                    </a:p>
                  </a:txBody>
                  <a:tcPr anchor="ctr">
                    <a:lnL>
                      <a:noFill/>
                    </a:lnL>
                    <a:lnR>
                      <a:noFill/>
                    </a:lnR>
                    <a:lnT>
                      <a:noFill/>
                    </a:lnT>
                    <a:lnB>
                      <a:noFill/>
                    </a:lnB>
                    <a:noFill/>
                  </a:tcPr>
                </a:tc>
                <a:tc>
                  <a:txBody>
                    <a:bodyPr/>
                    <a:lstStyle/>
                    <a:p>
                      <a:pPr>
                        <a:buNone/>
                      </a:pPr>
                      <a:r>
                        <a:rPr lang="en-US" sz="2000" dirty="0">
                          <a:solidFill>
                            <a:schemeClr val="bg1"/>
                          </a:solidFill>
                        </a:rPr>
                        <a:t>Automated response</a:t>
                      </a:r>
                    </a:p>
                  </a:txBody>
                  <a:tcPr anchor="ctr">
                    <a:lnL>
                      <a:noFill/>
                    </a:lnL>
                    <a:lnR>
                      <a:noFill/>
                    </a:lnR>
                    <a:lnT>
                      <a:noFill/>
                    </a:lnT>
                    <a:lnB>
                      <a:noFill/>
                    </a:lnB>
                    <a:noFill/>
                  </a:tcPr>
                </a:tc>
                <a:extLst>
                  <a:ext uri="{0D108BD9-81ED-4DB2-BD59-A6C34878D82A}">
                    <a16:rowId xmlns:a16="http://schemas.microsoft.com/office/drawing/2014/main" val="3273033747"/>
                  </a:ext>
                </a:extLst>
              </a:tr>
              <a:tr h="358781">
                <a:tc>
                  <a:txBody>
                    <a:bodyPr/>
                    <a:lstStyle/>
                    <a:p>
                      <a:pPr>
                        <a:buNone/>
                      </a:pPr>
                      <a:r>
                        <a:rPr lang="en-US" sz="2000" dirty="0">
                          <a:solidFill>
                            <a:schemeClr val="bg1"/>
                          </a:solidFill>
                        </a:rPr>
                        <a:t>Predict</a:t>
                      </a:r>
                    </a:p>
                  </a:txBody>
                  <a:tcPr anchor="ctr">
                    <a:lnL>
                      <a:noFill/>
                    </a:lnL>
                    <a:lnR>
                      <a:noFill/>
                    </a:lnR>
                    <a:lnT>
                      <a:noFill/>
                    </a:lnT>
                    <a:lnB>
                      <a:noFill/>
                    </a:lnB>
                    <a:noFill/>
                  </a:tcPr>
                </a:tc>
                <a:tc>
                  <a:txBody>
                    <a:bodyPr/>
                    <a:lstStyle/>
                    <a:p>
                      <a:pPr>
                        <a:buNone/>
                      </a:pPr>
                      <a:r>
                        <a:rPr lang="en-US" sz="2000" dirty="0">
                          <a:solidFill>
                            <a:schemeClr val="bg1"/>
                          </a:solidFill>
                        </a:rPr>
                        <a:t>Vulnerability analytics</a:t>
                      </a:r>
                    </a:p>
                  </a:txBody>
                  <a:tcPr anchor="ctr">
                    <a:lnL>
                      <a:noFill/>
                    </a:lnL>
                    <a:lnR>
                      <a:noFill/>
                    </a:lnR>
                    <a:lnT>
                      <a:noFill/>
                    </a:lnT>
                    <a:lnB>
                      <a:noFill/>
                    </a:lnB>
                    <a:noFill/>
                  </a:tcPr>
                </a:tc>
                <a:tc>
                  <a:txBody>
                    <a:bodyPr/>
                    <a:lstStyle/>
                    <a:p>
                      <a:pPr>
                        <a:buNone/>
                      </a:pPr>
                      <a:r>
                        <a:rPr lang="en-US" sz="2000" dirty="0">
                          <a:solidFill>
                            <a:schemeClr val="bg1"/>
                          </a:solidFill>
                        </a:rPr>
                        <a:t>Identify trends</a:t>
                      </a:r>
                    </a:p>
                  </a:txBody>
                  <a:tcPr anchor="ctr">
                    <a:lnL>
                      <a:noFill/>
                    </a:lnL>
                    <a:lnR>
                      <a:noFill/>
                    </a:lnR>
                    <a:lnT>
                      <a:noFill/>
                    </a:lnT>
                    <a:lnB>
                      <a:noFill/>
                    </a:lnB>
                    <a:noFill/>
                  </a:tcPr>
                </a:tc>
                <a:extLst>
                  <a:ext uri="{0D108BD9-81ED-4DB2-BD59-A6C34878D82A}">
                    <a16:rowId xmlns:a16="http://schemas.microsoft.com/office/drawing/2014/main" val="3036975324"/>
                  </a:ext>
                </a:extLst>
              </a:tr>
              <a:tr h="602751">
                <a:tc>
                  <a:txBody>
                    <a:bodyPr/>
                    <a:lstStyle/>
                    <a:p>
                      <a:pPr>
                        <a:buNone/>
                      </a:pPr>
                      <a:r>
                        <a:rPr lang="en-US" sz="2000" dirty="0">
                          <a:solidFill>
                            <a:schemeClr val="bg1"/>
                          </a:solidFill>
                        </a:rPr>
                        <a:t>Adapt</a:t>
                      </a:r>
                    </a:p>
                  </a:txBody>
                  <a:tcPr anchor="ctr">
                    <a:lnL>
                      <a:noFill/>
                    </a:lnL>
                    <a:lnR>
                      <a:noFill/>
                    </a:lnR>
                    <a:lnT>
                      <a:noFill/>
                    </a:lnT>
                    <a:lnB>
                      <a:noFill/>
                    </a:lnB>
                    <a:noFill/>
                  </a:tcPr>
                </a:tc>
                <a:tc>
                  <a:txBody>
                    <a:bodyPr/>
                    <a:lstStyle/>
                    <a:p>
                      <a:pPr>
                        <a:buNone/>
                      </a:pPr>
                      <a:r>
                        <a:rPr lang="en-US" sz="2000" dirty="0">
                          <a:solidFill>
                            <a:schemeClr val="bg1"/>
                          </a:solidFill>
                        </a:rPr>
                        <a:t>Security audits, policy updates</a:t>
                      </a:r>
                    </a:p>
                  </a:txBody>
                  <a:tcPr anchor="ctr">
                    <a:lnL>
                      <a:noFill/>
                    </a:lnL>
                    <a:lnR>
                      <a:noFill/>
                    </a:lnR>
                    <a:lnT>
                      <a:noFill/>
                    </a:lnT>
                    <a:lnB>
                      <a:noFill/>
                    </a:lnB>
                    <a:noFill/>
                  </a:tcPr>
                </a:tc>
                <a:tc>
                  <a:txBody>
                    <a:bodyPr/>
                    <a:lstStyle/>
                    <a:p>
                      <a:pPr>
                        <a:buNone/>
                      </a:pPr>
                      <a:r>
                        <a:rPr lang="en-US" sz="2000" dirty="0">
                          <a:solidFill>
                            <a:schemeClr val="bg1"/>
                          </a:solidFill>
                        </a:rPr>
                        <a:t>Improve defenses</a:t>
                      </a:r>
                    </a:p>
                  </a:txBody>
                  <a:tcPr anchor="ctr">
                    <a:lnL>
                      <a:noFill/>
                    </a:lnL>
                    <a:lnR>
                      <a:noFill/>
                    </a:lnR>
                    <a:lnT>
                      <a:noFill/>
                    </a:lnT>
                    <a:lnB>
                      <a:noFill/>
                    </a:lnB>
                    <a:noFill/>
                  </a:tcPr>
                </a:tc>
                <a:extLst>
                  <a:ext uri="{0D108BD9-81ED-4DB2-BD59-A6C34878D82A}">
                    <a16:rowId xmlns:a16="http://schemas.microsoft.com/office/drawing/2014/main" val="1193889522"/>
                  </a:ext>
                </a:extLst>
              </a:tr>
            </a:tbl>
          </a:graphicData>
        </a:graphic>
      </p:graphicFrame>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9CC0E-204C-20A4-9E8A-533574714D03}"/>
              </a:ext>
            </a:extLst>
          </p:cNvPr>
          <p:cNvSpPr>
            <a:spLocks noGrp="1"/>
          </p:cNvSpPr>
          <p:nvPr>
            <p:ph type="title"/>
          </p:nvPr>
        </p:nvSpPr>
        <p:spPr>
          <a:xfrm>
            <a:off x="3049398" y="226079"/>
            <a:ext cx="3765958" cy="1293028"/>
          </a:xfrm>
        </p:spPr>
        <p:txBody>
          <a:bodyPr/>
          <a:lstStyle/>
          <a:p>
            <a:r>
              <a:rPr lang="en-US" dirty="0"/>
              <a:t>TOOLS</a:t>
            </a:r>
          </a:p>
        </p:txBody>
      </p:sp>
      <p:sp>
        <p:nvSpPr>
          <p:cNvPr id="3" name="Text Placeholder 2">
            <a:extLst>
              <a:ext uri="{FF2B5EF4-FFF2-40B4-BE49-F238E27FC236}">
                <a16:creationId xmlns:a16="http://schemas.microsoft.com/office/drawing/2014/main" id="{488AE845-BDC0-9F4C-A335-4B4A6EDF1B44}"/>
              </a:ext>
            </a:extLst>
          </p:cNvPr>
          <p:cNvSpPr>
            <a:spLocks noGrp="1"/>
          </p:cNvSpPr>
          <p:nvPr>
            <p:ph type="body" idx="1"/>
          </p:nvPr>
        </p:nvSpPr>
        <p:spPr>
          <a:xfrm>
            <a:off x="301305" y="1055055"/>
            <a:ext cx="11617354" cy="5576088"/>
          </a:xfrm>
        </p:spPr>
        <p:txBody>
          <a:bodyPr spcFirstLastPara="1" wrap="square" lIns="91425" tIns="45700" rIns="91425" bIns="45700" anchor="t" anchorCtr="0">
            <a:noAutofit/>
          </a:bodyPr>
          <a:lstStyle/>
          <a:p>
            <a:pPr>
              <a:lnSpc>
                <a:spcPct val="100000"/>
              </a:lnSpc>
              <a:spcBef>
                <a:spcPts val="0"/>
              </a:spcBef>
            </a:pPr>
            <a:r>
              <a:rPr lang="en-US" sz="1800" b="1" dirty="0">
                <a:solidFill>
                  <a:schemeClr val="bg1"/>
                </a:solidFill>
                <a:latin typeface="Arial"/>
                <a:cs typeface="Arial"/>
              </a:rPr>
              <a:t>Explanation of </a:t>
            </a:r>
            <a:r>
              <a:rPr lang="en-US" sz="1800" b="1" dirty="0" err="1">
                <a:solidFill>
                  <a:schemeClr val="bg1"/>
                </a:solidFill>
                <a:latin typeface="Arial"/>
                <a:cs typeface="Arial"/>
              </a:rPr>
              <a:t>DevSecOps</a:t>
            </a:r>
            <a:r>
              <a:rPr lang="en-US" sz="1800" b="1" dirty="0">
                <a:solidFill>
                  <a:schemeClr val="bg1"/>
                </a:solidFill>
                <a:latin typeface="Arial"/>
                <a:cs typeface="Arial"/>
              </a:rPr>
              <a:t> Pipeline:</a:t>
            </a:r>
            <a:br>
              <a:rPr lang="en-US" sz="1800" b="1" dirty="0">
                <a:latin typeface="Arial"/>
                <a:cs typeface="Arial"/>
              </a:rPr>
            </a:br>
            <a:endParaRPr lang="en-US" sz="1800" dirty="0">
              <a:solidFill>
                <a:srgbClr val="000000"/>
              </a:solidFill>
              <a:latin typeface="Arial"/>
              <a:cs typeface="Arial"/>
            </a:endParaRPr>
          </a:p>
          <a:p>
            <a:pPr>
              <a:lnSpc>
                <a:spcPct val="100000"/>
              </a:lnSpc>
              <a:spcBef>
                <a:spcPts val="0"/>
              </a:spcBef>
            </a:pPr>
            <a:r>
              <a:rPr lang="en-US" sz="1800" dirty="0">
                <a:solidFill>
                  <a:schemeClr val="bg1"/>
                </a:solidFill>
                <a:latin typeface="Arial"/>
                <a:cs typeface="Arial"/>
              </a:rPr>
              <a:t>Green Pace follows a </a:t>
            </a:r>
            <a:r>
              <a:rPr lang="en-US" sz="1800" dirty="0" err="1">
                <a:solidFill>
                  <a:schemeClr val="bg1"/>
                </a:solidFill>
                <a:latin typeface="Arial"/>
                <a:cs typeface="Arial"/>
              </a:rPr>
              <a:t>DevSecOps</a:t>
            </a:r>
            <a:r>
              <a:rPr lang="en-US" sz="1800" dirty="0">
                <a:solidFill>
                  <a:schemeClr val="bg1"/>
                </a:solidFill>
                <a:latin typeface="Arial"/>
                <a:cs typeface="Arial"/>
              </a:rPr>
              <a:t> pipeline where security </a:t>
            </a:r>
            <a:r>
              <a:rPr lang="en-US" sz="1800" dirty="0" err="1">
                <a:solidFill>
                  <a:schemeClr val="bg1"/>
                </a:solidFill>
                <a:latin typeface="Arial"/>
                <a:cs typeface="Arial"/>
              </a:rPr>
              <a:t>isembedded</a:t>
            </a:r>
            <a:r>
              <a:rPr lang="en-US" sz="1800" dirty="0">
                <a:solidFill>
                  <a:schemeClr val="bg1"/>
                </a:solidFill>
                <a:latin typeface="Arial"/>
                <a:cs typeface="Arial"/>
              </a:rPr>
              <a:t> into every stage of the software development </a:t>
            </a:r>
            <a:r>
              <a:rPr lang="en-US" sz="1800" dirty="0" err="1">
                <a:solidFill>
                  <a:schemeClr val="bg1"/>
                </a:solidFill>
                <a:latin typeface="Arial"/>
                <a:cs typeface="Arial"/>
              </a:rPr>
              <a:t>lifecycleinstead</a:t>
            </a:r>
            <a:r>
              <a:rPr lang="en-US" sz="1800" dirty="0">
                <a:solidFill>
                  <a:schemeClr val="bg1"/>
                </a:solidFill>
                <a:latin typeface="Arial"/>
                <a:cs typeface="Arial"/>
              </a:rPr>
              <a:t> of being added at the end. This approach ensures </a:t>
            </a:r>
            <a:r>
              <a:rPr lang="en-US" sz="1800" dirty="0" err="1">
                <a:solidFill>
                  <a:schemeClr val="bg1"/>
                </a:solidFill>
                <a:latin typeface="Arial"/>
                <a:cs typeface="Arial"/>
              </a:rPr>
              <a:t>thatvulnerabilities</a:t>
            </a:r>
            <a:r>
              <a:rPr lang="en-US" sz="1800" dirty="0">
                <a:solidFill>
                  <a:schemeClr val="bg1"/>
                </a:solidFill>
                <a:latin typeface="Arial"/>
                <a:cs typeface="Arial"/>
              </a:rPr>
              <a:t> are detected early, fixed quickly, and </a:t>
            </a:r>
            <a:r>
              <a:rPr lang="en-US" sz="1800" dirty="0" err="1">
                <a:solidFill>
                  <a:schemeClr val="bg1"/>
                </a:solidFill>
                <a:latin typeface="Arial"/>
                <a:cs typeface="Arial"/>
              </a:rPr>
              <a:t>continuouslymonitored</a:t>
            </a:r>
            <a:r>
              <a:rPr lang="en-US" sz="1800" dirty="0">
                <a:solidFill>
                  <a:schemeClr val="bg1"/>
                </a:solidFill>
                <a:latin typeface="Arial"/>
                <a:cs typeface="Arial"/>
              </a:rPr>
              <a:t> after deployment. Security is treated as a shared responsibility between development, operations, and </a:t>
            </a:r>
            <a:r>
              <a:rPr lang="en-US" sz="1800" dirty="0" err="1">
                <a:solidFill>
                  <a:schemeClr val="bg1"/>
                </a:solidFill>
                <a:latin typeface="Arial"/>
                <a:cs typeface="Arial"/>
              </a:rPr>
              <a:t>securityteams</a:t>
            </a:r>
            <a:r>
              <a:rPr lang="en-US" sz="1800" dirty="0">
                <a:solidFill>
                  <a:schemeClr val="bg1"/>
                </a:solidFill>
                <a:latin typeface="Arial"/>
                <a:cs typeface="Arial"/>
              </a:rPr>
              <a:t>.</a:t>
            </a:r>
            <a:br>
              <a:rPr lang="en-US" sz="1800" dirty="0">
                <a:latin typeface="Arial"/>
                <a:cs typeface="Arial"/>
              </a:rPr>
            </a:br>
            <a:endParaRPr lang="en-US" sz="1800" dirty="0">
              <a:solidFill>
                <a:schemeClr val="bg1"/>
              </a:solidFill>
              <a:latin typeface="Arial"/>
              <a:cs typeface="Arial"/>
            </a:endParaRPr>
          </a:p>
          <a:p>
            <a:pPr>
              <a:lnSpc>
                <a:spcPct val="100000"/>
              </a:lnSpc>
              <a:spcBef>
                <a:spcPts val="0"/>
              </a:spcBef>
            </a:pPr>
            <a:r>
              <a:rPr lang="en-US" sz="1800" dirty="0">
                <a:solidFill>
                  <a:schemeClr val="bg1"/>
                </a:solidFill>
                <a:latin typeface="Arial"/>
                <a:cs typeface="Arial"/>
              </a:rPr>
              <a:t>The pipeline begins during the </a:t>
            </a:r>
            <a:r>
              <a:rPr lang="en-US" sz="1800" b="1" dirty="0">
                <a:solidFill>
                  <a:schemeClr val="bg1"/>
                </a:solidFill>
                <a:latin typeface="Arial"/>
                <a:cs typeface="Arial"/>
              </a:rPr>
              <a:t>Plan</a:t>
            </a:r>
            <a:r>
              <a:rPr lang="en-US" sz="1800" dirty="0">
                <a:solidFill>
                  <a:schemeClr val="bg1"/>
                </a:solidFill>
                <a:latin typeface="Arial"/>
                <a:cs typeface="Arial"/>
              </a:rPr>
              <a:t> phase, where </a:t>
            </a:r>
            <a:r>
              <a:rPr lang="en-US" sz="1800" dirty="0" err="1">
                <a:solidFill>
                  <a:schemeClr val="bg1"/>
                </a:solidFill>
                <a:latin typeface="Arial"/>
                <a:cs typeface="Arial"/>
              </a:rPr>
              <a:t>threatmodeling</a:t>
            </a:r>
            <a:r>
              <a:rPr lang="en-US" sz="1800" dirty="0">
                <a:solidFill>
                  <a:schemeClr val="bg1"/>
                </a:solidFill>
                <a:latin typeface="Arial"/>
                <a:cs typeface="Arial"/>
              </a:rPr>
              <a:t>, security training, and technical security debt </a:t>
            </a:r>
            <a:r>
              <a:rPr lang="en-US" sz="1800" dirty="0" err="1">
                <a:solidFill>
                  <a:schemeClr val="bg1"/>
                </a:solidFill>
                <a:latin typeface="Arial"/>
                <a:cs typeface="Arial"/>
              </a:rPr>
              <a:t>areaddressed</a:t>
            </a:r>
            <a:r>
              <a:rPr lang="en-US" sz="1800" dirty="0">
                <a:solidFill>
                  <a:schemeClr val="bg1"/>
                </a:solidFill>
                <a:latin typeface="Arial"/>
                <a:cs typeface="Arial"/>
              </a:rPr>
              <a:t>. During the </a:t>
            </a:r>
            <a:r>
              <a:rPr lang="en-US" sz="1800" b="1" dirty="0">
                <a:solidFill>
                  <a:schemeClr val="bg1"/>
                </a:solidFill>
                <a:latin typeface="Arial"/>
                <a:cs typeface="Arial"/>
              </a:rPr>
              <a:t>Create</a:t>
            </a:r>
            <a:r>
              <a:rPr lang="en-US" sz="1800" dirty="0">
                <a:solidFill>
                  <a:schemeClr val="bg1"/>
                </a:solidFill>
                <a:latin typeface="Arial"/>
                <a:cs typeface="Arial"/>
              </a:rPr>
              <a:t> phase, developers use </a:t>
            </a:r>
            <a:r>
              <a:rPr lang="en-US" sz="1800" dirty="0" err="1">
                <a:solidFill>
                  <a:schemeClr val="bg1"/>
                </a:solidFill>
                <a:latin typeface="Arial"/>
                <a:cs typeface="Arial"/>
              </a:rPr>
              <a:t>IDEsecurity</a:t>
            </a:r>
            <a:r>
              <a:rPr lang="en-US" sz="1800" dirty="0">
                <a:solidFill>
                  <a:schemeClr val="bg1"/>
                </a:solidFill>
                <a:latin typeface="Arial"/>
                <a:cs typeface="Arial"/>
              </a:rPr>
              <a:t> plugins that provide real-time feedback on unsafe </a:t>
            </a:r>
            <a:r>
              <a:rPr lang="en-US" sz="1800" dirty="0" err="1">
                <a:solidFill>
                  <a:schemeClr val="bg1"/>
                </a:solidFill>
                <a:latin typeface="Arial"/>
                <a:cs typeface="Arial"/>
              </a:rPr>
              <a:t>code.In</a:t>
            </a:r>
            <a:r>
              <a:rPr lang="en-US" sz="1800" dirty="0">
                <a:solidFill>
                  <a:schemeClr val="bg1"/>
                </a:solidFill>
                <a:latin typeface="Arial"/>
                <a:cs typeface="Arial"/>
              </a:rPr>
              <a:t> the </a:t>
            </a:r>
            <a:r>
              <a:rPr lang="en-US" sz="1800" b="1" dirty="0">
                <a:solidFill>
                  <a:schemeClr val="bg1"/>
                </a:solidFill>
                <a:latin typeface="Arial"/>
                <a:cs typeface="Arial"/>
              </a:rPr>
              <a:t>Verify</a:t>
            </a:r>
            <a:r>
              <a:rPr lang="en-US" sz="1800" dirty="0">
                <a:solidFill>
                  <a:schemeClr val="bg1"/>
                </a:solidFill>
                <a:latin typeface="Arial"/>
                <a:cs typeface="Arial"/>
              </a:rPr>
              <a:t> phase, automated security scans such as </a:t>
            </a:r>
            <a:r>
              <a:rPr lang="en-US" sz="1800" dirty="0" err="1">
                <a:solidFill>
                  <a:schemeClr val="bg1"/>
                </a:solidFill>
                <a:latin typeface="Arial"/>
                <a:cs typeface="Arial"/>
              </a:rPr>
              <a:t>staticanalysis</a:t>
            </a:r>
            <a:r>
              <a:rPr lang="en-US" sz="1800" dirty="0">
                <a:solidFill>
                  <a:schemeClr val="bg1"/>
                </a:solidFill>
                <a:latin typeface="Arial"/>
                <a:cs typeface="Arial"/>
              </a:rPr>
              <a:t> (SAST), dynamic testing (DAST), and </a:t>
            </a:r>
            <a:r>
              <a:rPr lang="en-US" sz="1800" dirty="0" err="1">
                <a:solidFill>
                  <a:schemeClr val="bg1"/>
                </a:solidFill>
                <a:latin typeface="Arial"/>
                <a:cs typeface="Arial"/>
              </a:rPr>
              <a:t>softwarecomposition</a:t>
            </a:r>
            <a:r>
              <a:rPr lang="en-US" sz="1800" dirty="0">
                <a:solidFill>
                  <a:schemeClr val="bg1"/>
                </a:solidFill>
                <a:latin typeface="Arial"/>
                <a:cs typeface="Arial"/>
              </a:rPr>
              <a:t> analysis (SCA) are run to detect </a:t>
            </a:r>
            <a:r>
              <a:rPr lang="en-US" sz="1800" dirty="0" err="1">
                <a:solidFill>
                  <a:schemeClr val="bg1"/>
                </a:solidFill>
                <a:latin typeface="Arial"/>
                <a:cs typeface="Arial"/>
              </a:rPr>
              <a:t>vulnerabilitiesbefore</a:t>
            </a:r>
            <a:r>
              <a:rPr lang="en-US" sz="1800" dirty="0">
                <a:solidFill>
                  <a:schemeClr val="bg1"/>
                </a:solidFill>
                <a:latin typeface="Arial"/>
                <a:cs typeface="Arial"/>
              </a:rPr>
              <a:t> the code is merged.</a:t>
            </a:r>
          </a:p>
          <a:p>
            <a:pPr>
              <a:lnSpc>
                <a:spcPct val="100000"/>
              </a:lnSpc>
              <a:spcBef>
                <a:spcPts val="0"/>
              </a:spcBef>
            </a:pPr>
            <a:endParaRPr lang="en-US" sz="1800" dirty="0">
              <a:solidFill>
                <a:srgbClr val="000000"/>
              </a:solidFill>
              <a:latin typeface="Arial"/>
              <a:cs typeface="Arial"/>
            </a:endParaRPr>
          </a:p>
          <a:p>
            <a:pPr>
              <a:lnSpc>
                <a:spcPct val="100000"/>
              </a:lnSpc>
              <a:spcBef>
                <a:spcPts val="0"/>
              </a:spcBef>
            </a:pPr>
            <a:r>
              <a:rPr lang="en-US" sz="1800" dirty="0">
                <a:solidFill>
                  <a:schemeClr val="bg1"/>
                </a:solidFill>
                <a:latin typeface="Arial"/>
                <a:cs typeface="Arial"/>
              </a:rPr>
              <a:t>In </a:t>
            </a:r>
            <a:r>
              <a:rPr lang="en-US" sz="1800" b="1" dirty="0">
                <a:solidFill>
                  <a:schemeClr val="bg1"/>
                </a:solidFill>
                <a:latin typeface="Arial"/>
                <a:cs typeface="Arial"/>
              </a:rPr>
              <a:t>Pre-Production</a:t>
            </a:r>
            <a:r>
              <a:rPr lang="en-US" sz="1800" dirty="0">
                <a:solidFill>
                  <a:schemeClr val="bg1"/>
                </a:solidFill>
                <a:latin typeface="Arial"/>
                <a:cs typeface="Arial"/>
              </a:rPr>
              <a:t>, advanced testing such as fuzzing, </a:t>
            </a:r>
            <a:r>
              <a:rPr lang="en-US" sz="1800" dirty="0" err="1">
                <a:solidFill>
                  <a:schemeClr val="bg1"/>
                </a:solidFill>
                <a:latin typeface="Arial"/>
                <a:cs typeface="Arial"/>
              </a:rPr>
              <a:t>chaostesting</a:t>
            </a:r>
            <a:r>
              <a:rPr lang="en-US" sz="1800" dirty="0">
                <a:solidFill>
                  <a:schemeClr val="bg1"/>
                </a:solidFill>
                <a:latin typeface="Arial"/>
                <a:cs typeface="Arial"/>
              </a:rPr>
              <a:t>, and integration testing is used to simulate real-</a:t>
            </a:r>
            <a:r>
              <a:rPr lang="en-US" sz="1800" dirty="0" err="1">
                <a:solidFill>
                  <a:schemeClr val="bg1"/>
                </a:solidFill>
                <a:latin typeface="Arial"/>
                <a:cs typeface="Arial"/>
              </a:rPr>
              <a:t>worldattacks</a:t>
            </a:r>
            <a:r>
              <a:rPr lang="en-US" sz="1800" dirty="0">
                <a:solidFill>
                  <a:schemeClr val="bg1"/>
                </a:solidFill>
                <a:latin typeface="Arial"/>
                <a:cs typeface="Arial"/>
              </a:rPr>
              <a:t>. During the </a:t>
            </a:r>
            <a:r>
              <a:rPr lang="en-US" sz="1800" b="1" dirty="0">
                <a:solidFill>
                  <a:schemeClr val="bg1"/>
                </a:solidFill>
                <a:latin typeface="Arial"/>
                <a:cs typeface="Arial"/>
              </a:rPr>
              <a:t>Release</a:t>
            </a:r>
            <a:r>
              <a:rPr lang="en-US" sz="1800" dirty="0">
                <a:solidFill>
                  <a:schemeClr val="bg1"/>
                </a:solidFill>
                <a:latin typeface="Arial"/>
                <a:cs typeface="Arial"/>
              </a:rPr>
              <a:t> phase, software is digitally signed </a:t>
            </a:r>
            <a:r>
              <a:rPr lang="en-US" sz="1800" dirty="0" err="1">
                <a:solidFill>
                  <a:schemeClr val="bg1"/>
                </a:solidFill>
                <a:latin typeface="Arial"/>
                <a:cs typeface="Arial"/>
              </a:rPr>
              <a:t>toensure</a:t>
            </a:r>
            <a:r>
              <a:rPr lang="en-US" sz="1800" dirty="0">
                <a:solidFill>
                  <a:schemeClr val="bg1"/>
                </a:solidFill>
                <a:latin typeface="Arial"/>
                <a:cs typeface="Arial"/>
              </a:rPr>
              <a:t> integrity. Once deployed, the </a:t>
            </a:r>
            <a:r>
              <a:rPr lang="en-US" sz="1800" b="1" dirty="0">
                <a:solidFill>
                  <a:schemeClr val="bg1"/>
                </a:solidFill>
                <a:latin typeface="Arial"/>
                <a:cs typeface="Arial"/>
              </a:rPr>
              <a:t>Prevent</a:t>
            </a:r>
            <a:r>
              <a:rPr lang="en-US" sz="1800" dirty="0">
                <a:solidFill>
                  <a:schemeClr val="bg1"/>
                </a:solidFill>
                <a:latin typeface="Arial"/>
                <a:cs typeface="Arial"/>
              </a:rPr>
              <a:t> and </a:t>
            </a:r>
            <a:r>
              <a:rPr lang="en-US" sz="1800" b="1" dirty="0">
                <a:solidFill>
                  <a:schemeClr val="bg1"/>
                </a:solidFill>
                <a:latin typeface="Arial"/>
                <a:cs typeface="Arial"/>
              </a:rPr>
              <a:t>Detect</a:t>
            </a:r>
            <a:r>
              <a:rPr lang="en-US" sz="1800" dirty="0">
                <a:solidFill>
                  <a:schemeClr val="bg1"/>
                </a:solidFill>
                <a:latin typeface="Arial"/>
                <a:cs typeface="Arial"/>
              </a:rPr>
              <a:t> </a:t>
            </a:r>
            <a:r>
              <a:rPr lang="en-US" sz="1800" dirty="0" err="1">
                <a:solidFill>
                  <a:schemeClr val="bg1"/>
                </a:solidFill>
                <a:latin typeface="Arial"/>
                <a:cs typeface="Arial"/>
              </a:rPr>
              <a:t>stagescontinuously</a:t>
            </a:r>
            <a:r>
              <a:rPr lang="en-US" sz="1800" dirty="0">
                <a:solidFill>
                  <a:schemeClr val="bg1"/>
                </a:solidFill>
                <a:latin typeface="Arial"/>
                <a:cs typeface="Arial"/>
              </a:rPr>
              <a:t> protect the application using integrity </a:t>
            </a:r>
            <a:r>
              <a:rPr lang="en-US" sz="1800" dirty="0" err="1">
                <a:solidFill>
                  <a:schemeClr val="bg1"/>
                </a:solidFill>
                <a:latin typeface="Arial"/>
                <a:cs typeface="Arial"/>
              </a:rPr>
              <a:t>checks,runtime</a:t>
            </a:r>
            <a:r>
              <a:rPr lang="en-US" sz="1800" dirty="0">
                <a:solidFill>
                  <a:schemeClr val="bg1"/>
                </a:solidFill>
                <a:latin typeface="Arial"/>
                <a:cs typeface="Arial"/>
              </a:rPr>
              <a:t> monitoring, intrusion detection, and behavior </a:t>
            </a:r>
            <a:r>
              <a:rPr lang="en-US" sz="1800" dirty="0" err="1">
                <a:solidFill>
                  <a:schemeClr val="bg1"/>
                </a:solidFill>
                <a:latin typeface="Arial"/>
                <a:cs typeface="Arial"/>
              </a:rPr>
              <a:t>analysistools</a:t>
            </a:r>
            <a:r>
              <a:rPr lang="en-US" sz="1800" dirty="0">
                <a:solidFill>
                  <a:schemeClr val="bg1"/>
                </a:solidFill>
                <a:latin typeface="Arial"/>
                <a:cs typeface="Arial"/>
              </a:rPr>
              <a:t>. If a threat is discovered, the </a:t>
            </a:r>
            <a:r>
              <a:rPr lang="en-US" sz="1800" b="1" dirty="0">
                <a:solidFill>
                  <a:schemeClr val="bg1"/>
                </a:solidFill>
                <a:latin typeface="Arial"/>
                <a:cs typeface="Arial"/>
              </a:rPr>
              <a:t>Respond</a:t>
            </a:r>
            <a:r>
              <a:rPr lang="en-US" sz="1800" dirty="0">
                <a:solidFill>
                  <a:schemeClr val="bg1"/>
                </a:solidFill>
                <a:latin typeface="Arial"/>
                <a:cs typeface="Arial"/>
              </a:rPr>
              <a:t> stage </a:t>
            </a:r>
            <a:r>
              <a:rPr lang="en-US" sz="1800" dirty="0" err="1">
                <a:solidFill>
                  <a:schemeClr val="bg1"/>
                </a:solidFill>
                <a:latin typeface="Arial"/>
                <a:cs typeface="Arial"/>
              </a:rPr>
              <a:t>automaticallytriggers</a:t>
            </a:r>
            <a:r>
              <a:rPr lang="en-US" sz="1800" dirty="0">
                <a:solidFill>
                  <a:schemeClr val="bg1"/>
                </a:solidFill>
                <a:latin typeface="Arial"/>
                <a:cs typeface="Arial"/>
              </a:rPr>
              <a:t> protective actions, and the </a:t>
            </a:r>
            <a:r>
              <a:rPr lang="en-US" sz="1800" b="1" dirty="0">
                <a:solidFill>
                  <a:schemeClr val="bg1"/>
                </a:solidFill>
                <a:latin typeface="Arial"/>
                <a:cs typeface="Arial"/>
              </a:rPr>
              <a:t>Predict</a:t>
            </a:r>
            <a:r>
              <a:rPr lang="en-US" sz="1800" dirty="0">
                <a:solidFill>
                  <a:schemeClr val="bg1"/>
                </a:solidFill>
                <a:latin typeface="Arial"/>
                <a:cs typeface="Arial"/>
              </a:rPr>
              <a:t> and </a:t>
            </a:r>
            <a:r>
              <a:rPr lang="en-US" sz="1800" b="1" dirty="0">
                <a:solidFill>
                  <a:schemeClr val="bg1"/>
                </a:solidFill>
                <a:latin typeface="Arial"/>
                <a:cs typeface="Arial"/>
              </a:rPr>
              <a:t>Adapt</a:t>
            </a:r>
            <a:r>
              <a:rPr lang="en-US" sz="1800" dirty="0">
                <a:solidFill>
                  <a:schemeClr val="bg1"/>
                </a:solidFill>
                <a:latin typeface="Arial"/>
                <a:cs typeface="Arial"/>
              </a:rPr>
              <a:t> </a:t>
            </a:r>
            <a:r>
              <a:rPr lang="en-US" sz="1800" dirty="0" err="1">
                <a:solidFill>
                  <a:schemeClr val="bg1"/>
                </a:solidFill>
                <a:latin typeface="Arial"/>
                <a:cs typeface="Arial"/>
              </a:rPr>
              <a:t>stagesanalyze</a:t>
            </a:r>
            <a:r>
              <a:rPr lang="en-US" sz="1800" dirty="0">
                <a:solidFill>
                  <a:schemeClr val="bg1"/>
                </a:solidFill>
                <a:latin typeface="Arial"/>
                <a:cs typeface="Arial"/>
              </a:rPr>
              <a:t> trends to prevent future attacks.</a:t>
            </a:r>
            <a:endParaRPr lang="en-US" sz="1800" dirty="0">
              <a:solidFill>
                <a:schemeClr val="bg1"/>
              </a:solidFill>
            </a:endParaRPr>
          </a:p>
        </p:txBody>
      </p:sp>
    </p:spTree>
    <p:extLst>
      <p:ext uri="{BB962C8B-B14F-4D97-AF65-F5344CB8AC3E}">
        <p14:creationId xmlns:p14="http://schemas.microsoft.com/office/powerpoint/2010/main" val="13444153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RISKS AND BENEFITS</a:t>
            </a:r>
            <a:endParaRPr/>
          </a:p>
        </p:txBody>
      </p:sp>
      <p:sp>
        <p:nvSpPr>
          <p:cNvPr id="217" name="Google Shape;217;p11"/>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Autofit/>
          </a:bodyPr>
          <a:lstStyle/>
          <a:p>
            <a:pPr>
              <a:buSzPts val="2000"/>
            </a:pPr>
            <a:r>
              <a:rPr lang="en-US" sz="2400" b="1" dirty="0"/>
              <a:t>Problems:</a:t>
            </a:r>
            <a:br>
              <a:rPr lang="en-US" sz="2400" b="1" dirty="0"/>
            </a:br>
            <a:r>
              <a:rPr lang="en-US" sz="2400" b="1" dirty="0"/>
              <a:t> Legacy code, human error, delayed security testing.</a:t>
            </a:r>
            <a:endParaRPr lang="en-US" sz="2400"/>
          </a:p>
          <a:p>
            <a:pPr>
              <a:buSzPts val="2000"/>
            </a:pPr>
            <a:r>
              <a:rPr lang="en-US" sz="2400" b="1" dirty="0"/>
              <a:t>Solutions:</a:t>
            </a:r>
            <a:br>
              <a:rPr lang="en-US" sz="2400" b="1" dirty="0"/>
            </a:br>
            <a:r>
              <a:rPr lang="en-US" sz="2400" b="1" dirty="0"/>
              <a:t> Automated testing, secure standards, continuous monitoring.</a:t>
            </a:r>
            <a:endParaRPr lang="en-US" sz="2400"/>
          </a:p>
          <a:p>
            <a:pPr>
              <a:buSzPts val="2000"/>
            </a:pPr>
            <a:r>
              <a:rPr lang="en-US" sz="2400" b="1" dirty="0"/>
              <a:t>Risks of Waiting:</a:t>
            </a:r>
            <a:br>
              <a:rPr lang="en-US" sz="2400" b="1" dirty="0"/>
            </a:br>
            <a:r>
              <a:rPr lang="en-US" sz="2400" b="1" dirty="0"/>
              <a:t> Data breaches, regulatory fines, system compromise.</a:t>
            </a:r>
            <a:endParaRPr lang="en-US" sz="2400"/>
          </a:p>
          <a:p>
            <a:pPr>
              <a:buSzPts val="2000"/>
            </a:pPr>
            <a:r>
              <a:rPr lang="en-US" sz="2400" b="1" dirty="0"/>
              <a:t>Benefits of Acting Now:</a:t>
            </a:r>
            <a:br>
              <a:rPr lang="en-US" sz="2400" b="1" dirty="0"/>
            </a:br>
            <a:r>
              <a:rPr lang="en-US" sz="2400" b="1" dirty="0"/>
              <a:t> Reduced attack surface, faster detection, stronger trust.</a:t>
            </a:r>
            <a:endParaRPr lang="en-US" sz="2400"/>
          </a:p>
          <a:p>
            <a:pPr>
              <a:buSzPts val="2000"/>
            </a:pPr>
            <a:r>
              <a:rPr lang="en-US" sz="2400" b="1" dirty="0"/>
              <a:t>Next Steps:</a:t>
            </a:r>
            <a:br>
              <a:rPr lang="en-US" sz="2400" b="1" dirty="0"/>
            </a:br>
            <a:r>
              <a:rPr lang="en-US" sz="2400" b="1" dirty="0"/>
              <a:t> Expand automation, continuous audits, regular training.</a:t>
            </a:r>
            <a:endParaRPr lang="en-US" sz="2400" dirty="0"/>
          </a:p>
          <a:p>
            <a:pPr marL="228600" lvl="0" indent="-228600" algn="l">
              <a:lnSpc>
                <a:spcPct val="90000"/>
              </a:lnSpc>
              <a:spcBef>
                <a:spcPts val="0"/>
              </a:spcBef>
              <a:spcAft>
                <a:spcPts val="0"/>
              </a:spcAft>
              <a:buClr>
                <a:schemeClr val="lt1"/>
              </a:buClr>
              <a:buSzPts val="2000"/>
              <a:buChar char="•"/>
            </a:pPr>
            <a:endParaRPr lang="en-US" sz="2000" dirty="0"/>
          </a:p>
        </p:txBody>
      </p:sp>
      <p:pic>
        <p:nvPicPr>
          <p:cNvPr id="218" name="Google Shape;218;p11"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RECOMMENDATIONS</a:t>
            </a:r>
            <a:endParaRPr/>
          </a:p>
        </p:txBody>
      </p:sp>
      <p:sp>
        <p:nvSpPr>
          <p:cNvPr id="224" name="Google Shape;224;p12"/>
          <p:cNvSpPr txBox="1">
            <a:spLocks noGrp="1"/>
          </p:cNvSpPr>
          <p:nvPr>
            <p:ph type="body" idx="1"/>
          </p:nvPr>
        </p:nvSpPr>
        <p:spPr>
          <a:xfrm>
            <a:off x="685800" y="2194560"/>
            <a:ext cx="10834129" cy="4408557"/>
          </a:xfrm>
          <a:prstGeom prst="rect">
            <a:avLst/>
          </a:prstGeom>
          <a:noFill/>
          <a:ln>
            <a:noFill/>
          </a:ln>
        </p:spPr>
        <p:txBody>
          <a:bodyPr spcFirstLastPara="1" wrap="square" lIns="91425" tIns="45700" rIns="91425" bIns="45700" anchor="t" anchorCtr="0">
            <a:normAutofit/>
          </a:bodyPr>
          <a:lstStyle/>
          <a:p>
            <a:pPr marL="1028700" indent="0">
              <a:spcBef>
                <a:spcPts val="500"/>
              </a:spcBef>
              <a:buNone/>
            </a:pPr>
            <a:r>
              <a:rPr lang="en-US" b="1" dirty="0"/>
              <a:t>Security Gaps:</a:t>
            </a:r>
            <a:endParaRPr lang="en-US" dirty="0"/>
          </a:p>
          <a:p>
            <a:r>
              <a:rPr lang="en-US" dirty="0"/>
              <a:t>No continuous penetration testing</a:t>
            </a:r>
          </a:p>
          <a:p>
            <a:r>
              <a:rPr lang="en-US" dirty="0"/>
              <a:t>Limited developer security training</a:t>
            </a:r>
          </a:p>
          <a:p>
            <a:r>
              <a:rPr lang="en-US" dirty="0"/>
              <a:t>No real-time threat intelligence integration</a:t>
            </a:r>
          </a:p>
          <a:p>
            <a:r>
              <a:rPr lang="en-US" b="1" dirty="0"/>
              <a:t>Recommendations:</a:t>
            </a:r>
            <a:endParaRPr lang="en-US" dirty="0"/>
          </a:p>
          <a:p>
            <a:r>
              <a:rPr lang="en-US" dirty="0"/>
              <a:t>Add continuous fuzz testing</a:t>
            </a:r>
          </a:p>
          <a:p>
            <a:r>
              <a:rPr lang="en-US" dirty="0"/>
              <a:t>Enforce mandatory security code reviews</a:t>
            </a:r>
          </a:p>
          <a:p>
            <a:r>
              <a:rPr lang="en-US" dirty="0"/>
              <a:t>Integrate SIEM and threat intelligence feeds</a:t>
            </a:r>
          </a:p>
          <a:p>
            <a:r>
              <a:rPr lang="en-US" dirty="0"/>
              <a:t>Expand unit and integration security testing</a:t>
            </a:r>
          </a:p>
          <a:p>
            <a:pPr marL="1143000" lvl="2" indent="-228600" algn="l">
              <a:lnSpc>
                <a:spcPct val="90000"/>
              </a:lnSpc>
              <a:spcBef>
                <a:spcPts val="0"/>
              </a:spcBef>
              <a:spcAft>
                <a:spcPts val="0"/>
              </a:spcAft>
              <a:buClr>
                <a:schemeClr val="lt1"/>
              </a:buClr>
              <a:buSzPts val="1800"/>
              <a:buChar char="•"/>
            </a:pPr>
            <a:endParaRPr lang="en-US" dirty="0"/>
          </a:p>
        </p:txBody>
      </p:sp>
      <p:pic>
        <p:nvPicPr>
          <p:cNvPr id="225" name="Google Shape;225;p12"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CONCLUSIONS</a:t>
            </a:r>
            <a:endParaRPr/>
          </a:p>
        </p:txBody>
      </p:sp>
      <p:sp>
        <p:nvSpPr>
          <p:cNvPr id="231" name="Google Shape;231;p13"/>
          <p:cNvSpPr txBox="1">
            <a:spLocks noGrp="1"/>
          </p:cNvSpPr>
          <p:nvPr>
            <p:ph type="body" idx="1"/>
          </p:nvPr>
        </p:nvSpPr>
        <p:spPr>
          <a:xfrm>
            <a:off x="630881" y="1714019"/>
            <a:ext cx="11191102" cy="4387962"/>
          </a:xfrm>
          <a:prstGeom prst="rect">
            <a:avLst/>
          </a:prstGeom>
          <a:noFill/>
          <a:ln>
            <a:noFill/>
          </a:ln>
        </p:spPr>
        <p:txBody>
          <a:bodyPr spcFirstLastPara="1" wrap="square" lIns="91425" tIns="45700" rIns="91425" bIns="45700" anchor="t" anchorCtr="0">
            <a:normAutofit fontScale="92500" lnSpcReduction="10000"/>
          </a:bodyPr>
          <a:lstStyle/>
          <a:p>
            <a:pPr>
              <a:buNone/>
            </a:pPr>
            <a:r>
              <a:rPr lang="en-US" b="1" dirty="0"/>
              <a:t>Standards to Adopt to Prevent Future Problems</a:t>
            </a:r>
            <a:endParaRPr lang="en-US" dirty="0"/>
          </a:p>
          <a:p>
            <a:pPr>
              <a:buNone/>
            </a:pPr>
            <a:r>
              <a:rPr lang="en-US" dirty="0"/>
              <a:t>To prevent future security vulnerabilities, Green Pace must consistently enforce secure coding and architectural standards across all teams. Adopting the </a:t>
            </a:r>
            <a:r>
              <a:rPr lang="en-US" b="1" dirty="0"/>
              <a:t>SEI CERT C++ Coding Standard</a:t>
            </a:r>
            <a:r>
              <a:rPr lang="en-US" dirty="0"/>
              <a:t> as a mandatory baseline will reduce common risks such as buffer overflows, unsafe type conversions, and memory errors.</a:t>
            </a:r>
          </a:p>
          <a:p>
            <a:pPr>
              <a:buNone/>
            </a:pPr>
            <a:r>
              <a:rPr lang="en-US" dirty="0"/>
              <a:t>Security should be automated by default. Tools like </a:t>
            </a:r>
            <a:r>
              <a:rPr lang="en-US" b="1" dirty="0" err="1"/>
              <a:t>Cppcheck</a:t>
            </a:r>
            <a:r>
              <a:rPr lang="en-US" b="1" dirty="0"/>
              <a:t>, SonarQube, and compiler warnings treated as errors</a:t>
            </a:r>
            <a:r>
              <a:rPr lang="en-US" dirty="0"/>
              <a:t> must run in every build so vulnerabilities are caught early, when fixes are faster and less costly.</a:t>
            </a:r>
          </a:p>
          <a:p>
            <a:pPr>
              <a:buNone/>
            </a:pPr>
            <a:r>
              <a:rPr lang="en-US" dirty="0"/>
              <a:t>Green Pace should also standardize </a:t>
            </a:r>
            <a:r>
              <a:rPr lang="en-US" b="1" dirty="0"/>
              <a:t>encryption in flight, at rest, and in use</a:t>
            </a:r>
            <a:r>
              <a:rPr lang="en-US" dirty="0"/>
              <a:t> with approved cryptographic libraries. This ensures sensitive data remains protected even if other defenses fail.</a:t>
            </a:r>
          </a:p>
          <a:p>
            <a:pPr>
              <a:buNone/>
            </a:pPr>
            <a:r>
              <a:rPr lang="en-US" dirty="0"/>
              <a:t>Finally, strengthening the </a:t>
            </a:r>
            <a:r>
              <a:rPr lang="en-US" b="1" dirty="0"/>
              <a:t>Triple-A framework</a:t>
            </a:r>
            <a:r>
              <a:rPr lang="en-US" dirty="0"/>
              <a:t>—authentication, authorization, and accounting—will improve access control, accountability, and incident response.</a:t>
            </a:r>
            <a:br>
              <a:rPr lang="en-US" dirty="0"/>
            </a:br>
            <a:r>
              <a:rPr lang="en-US" dirty="0"/>
              <a:t> Together, these standards support a strong </a:t>
            </a:r>
            <a:r>
              <a:rPr lang="en-US" b="1" dirty="0"/>
              <a:t>defense-in-depth</a:t>
            </a:r>
            <a:r>
              <a:rPr lang="en-US" dirty="0"/>
              <a:t> strategy and help Green Pace move from reacting to threats to preventing them.</a:t>
            </a:r>
          </a:p>
          <a:p>
            <a:pPr marL="228600" lvl="0" indent="-88900" algn="l">
              <a:lnSpc>
                <a:spcPct val="90000"/>
              </a:lnSpc>
              <a:spcAft>
                <a:spcPts val="0"/>
              </a:spcAft>
              <a:buSzPts val="2200"/>
              <a:buNone/>
            </a:pPr>
            <a:endParaRPr lang="en-US" dirty="0"/>
          </a:p>
        </p:txBody>
      </p:sp>
      <p:pic>
        <p:nvPicPr>
          <p:cNvPr id="232" name="Google Shape;232;p13"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2813222" y="91616"/>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REFERENCES</a:t>
            </a:r>
            <a:endParaRPr/>
          </a:p>
        </p:txBody>
      </p:sp>
      <p:sp>
        <p:nvSpPr>
          <p:cNvPr id="238" name="Google Shape;238;p14"/>
          <p:cNvSpPr txBox="1">
            <a:spLocks noGrp="1"/>
          </p:cNvSpPr>
          <p:nvPr>
            <p:ph type="body" idx="1"/>
          </p:nvPr>
        </p:nvSpPr>
        <p:spPr>
          <a:xfrm>
            <a:off x="685800" y="1590452"/>
            <a:ext cx="10882183" cy="4628233"/>
          </a:xfrm>
          <a:prstGeom prst="rect">
            <a:avLst/>
          </a:prstGeom>
          <a:noFill/>
          <a:ln>
            <a:noFill/>
          </a:ln>
        </p:spPr>
        <p:txBody>
          <a:bodyPr spcFirstLastPara="1" wrap="square" lIns="91425" tIns="45700" rIns="91425" bIns="45700" anchor="t" anchorCtr="0">
            <a:normAutofit fontScale="70000" lnSpcReduction="20000"/>
          </a:bodyPr>
          <a:lstStyle/>
          <a:p>
            <a:pPr>
              <a:buSzPts val="2200"/>
            </a:pPr>
            <a:r>
              <a:rPr lang="en-US" dirty="0"/>
              <a:t>CMU Software Engineering Institute. (2023). </a:t>
            </a:r>
            <a:r>
              <a:rPr lang="en-US" i="1" dirty="0"/>
              <a:t>SEI CERT C++ coding standard</a:t>
            </a:r>
            <a:r>
              <a:rPr lang="en-US" dirty="0"/>
              <a:t>.</a:t>
            </a:r>
            <a:br>
              <a:rPr lang="en-US" dirty="0"/>
            </a:br>
            <a:r>
              <a:rPr lang="en-US" dirty="0"/>
              <a:t> </a:t>
            </a:r>
            <a:r>
              <a:rPr lang="en-US" dirty="0">
                <a:hlinkClick r:id="rId4"/>
              </a:rPr>
              <a:t>https://wiki.sei.cmu.edu/confluence/display/cplusplus</a:t>
            </a:r>
            <a:endParaRPr lang="en-US" dirty="0"/>
          </a:p>
          <a:p>
            <a:pPr>
              <a:buSzPts val="2200"/>
            </a:pPr>
            <a:r>
              <a:rPr lang="en-US"/>
              <a:t>OWASP Foundation. (2023). </a:t>
            </a:r>
            <a:r>
              <a:rPr lang="en-US" i="1"/>
              <a:t>OWASP top 10: The ten most critical web application security risks</a:t>
            </a:r>
            <a:r>
              <a:rPr lang="en-US"/>
              <a:t>.</a:t>
            </a:r>
            <a:br>
              <a:rPr lang="en-US" dirty="0"/>
            </a:br>
            <a:r>
              <a:rPr lang="en-US" dirty="0"/>
              <a:t> </a:t>
            </a:r>
            <a:r>
              <a:rPr lang="en-US" dirty="0">
                <a:hlinkClick r:id="rId5"/>
              </a:rPr>
              <a:t>https://owasp.org/www-project-top-ten/</a:t>
            </a:r>
            <a:endParaRPr lang="en-US"/>
          </a:p>
          <a:p>
            <a:pPr>
              <a:buSzPts val="2200"/>
            </a:pPr>
            <a:r>
              <a:rPr lang="en-US" dirty="0" err="1"/>
              <a:t>SonarSource</a:t>
            </a:r>
            <a:r>
              <a:rPr lang="en-US" dirty="0"/>
              <a:t>. (2024). </a:t>
            </a:r>
            <a:r>
              <a:rPr lang="en-US" i="1" dirty="0"/>
              <a:t>SonarQube: Continuous code quality and security</a:t>
            </a:r>
            <a:r>
              <a:rPr lang="en-US" dirty="0"/>
              <a:t>.</a:t>
            </a:r>
            <a:br>
              <a:rPr lang="en-US" dirty="0"/>
            </a:br>
            <a:r>
              <a:rPr lang="en-US" dirty="0"/>
              <a:t> </a:t>
            </a:r>
            <a:r>
              <a:rPr lang="en-US" dirty="0">
                <a:hlinkClick r:id="rId6"/>
              </a:rPr>
              <a:t>https://www.sonarsource.com/products/sonarqube/</a:t>
            </a:r>
            <a:endParaRPr lang="en-US"/>
          </a:p>
          <a:p>
            <a:pPr>
              <a:buSzPts val="2200"/>
            </a:pPr>
            <a:r>
              <a:rPr lang="en-US" dirty="0" err="1"/>
              <a:t>Cppcheck</a:t>
            </a:r>
            <a:r>
              <a:rPr lang="en-US" dirty="0"/>
              <a:t>. (2024). </a:t>
            </a:r>
            <a:r>
              <a:rPr lang="en-US" i="1" dirty="0" err="1"/>
              <a:t>Cppcheck</a:t>
            </a:r>
            <a:r>
              <a:rPr lang="en-US" i="1" dirty="0"/>
              <a:t>: A static analysis tool for C/C++ code</a:t>
            </a:r>
            <a:r>
              <a:rPr lang="en-US" dirty="0"/>
              <a:t>.</a:t>
            </a:r>
            <a:br>
              <a:rPr lang="en-US" dirty="0"/>
            </a:br>
            <a:r>
              <a:rPr lang="en-US" dirty="0"/>
              <a:t> </a:t>
            </a:r>
            <a:r>
              <a:rPr lang="en-US" dirty="0">
                <a:hlinkClick r:id="rId7"/>
              </a:rPr>
              <a:t>https://cppcheck.sourceforge.io/</a:t>
            </a:r>
            <a:endParaRPr lang="en-US"/>
          </a:p>
          <a:p>
            <a:pPr>
              <a:buSzPts val="2200"/>
            </a:pPr>
            <a:r>
              <a:rPr lang="en-US" dirty="0"/>
              <a:t>Van Niekerk, S. (2019). </a:t>
            </a:r>
            <a:r>
              <a:rPr lang="en-US" i="1" dirty="0"/>
              <a:t>Defense in depth: A layered security strategy</a:t>
            </a:r>
            <a:r>
              <a:rPr lang="en-US" dirty="0"/>
              <a:t> [Illustration]. </a:t>
            </a:r>
            <a:r>
              <a:rPr lang="en-US" dirty="0" err="1"/>
              <a:t>Peerlyst</a:t>
            </a:r>
            <a:r>
              <a:rPr lang="en-US" dirty="0"/>
              <a:t>.</a:t>
            </a:r>
            <a:br>
              <a:rPr lang="en-US" dirty="0"/>
            </a:br>
            <a:r>
              <a:rPr lang="en-US" dirty="0"/>
              <a:t> </a:t>
            </a:r>
            <a:r>
              <a:rPr lang="en-US" dirty="0">
                <a:hlinkClick r:id="rId8"/>
              </a:rPr>
              <a:t>https://www.peerlyst.com/posts/nhs-healthcare-defense-in-depth-shaun-van-niekerk</a:t>
            </a:r>
            <a:endParaRPr lang="en-US"/>
          </a:p>
          <a:p>
            <a:pPr>
              <a:buSzPts val="2200"/>
            </a:pPr>
            <a:r>
              <a:rPr lang="en-US" dirty="0"/>
              <a:t>NIST. (2023). </a:t>
            </a:r>
            <a:r>
              <a:rPr lang="en-US" i="1" dirty="0"/>
              <a:t>Digital identity guidelines (SP 800-63)</a:t>
            </a:r>
            <a:r>
              <a:rPr lang="en-US" dirty="0"/>
              <a:t>.</a:t>
            </a:r>
            <a:br>
              <a:rPr lang="en-US" dirty="0"/>
            </a:br>
            <a:r>
              <a:rPr lang="en-US" dirty="0"/>
              <a:t> </a:t>
            </a:r>
            <a:r>
              <a:rPr lang="en-US" dirty="0">
                <a:hlinkClick r:id="rId9"/>
              </a:rPr>
              <a:t>https://pages.nist.gov/800-63-3/</a:t>
            </a:r>
            <a:endParaRPr lang="en-US"/>
          </a:p>
          <a:p>
            <a:pPr>
              <a:buSzPts val="2200"/>
            </a:pPr>
            <a:r>
              <a:rPr lang="en-US" dirty="0"/>
              <a:t>Microsoft. (2024). </a:t>
            </a:r>
            <a:r>
              <a:rPr lang="en-US" i="1" dirty="0"/>
              <a:t>Secure development lifecycle (SDL)</a:t>
            </a:r>
            <a:r>
              <a:rPr lang="en-US" dirty="0"/>
              <a:t>.</a:t>
            </a:r>
            <a:br>
              <a:rPr lang="en-US" dirty="0"/>
            </a:br>
            <a:r>
              <a:rPr lang="en-US" dirty="0"/>
              <a:t> </a:t>
            </a:r>
            <a:r>
              <a:rPr lang="en-US" dirty="0">
                <a:hlinkClick r:id="rId10"/>
              </a:rPr>
              <a:t>https://www.microsoft.com/en-us/securityengineering/sdl/</a:t>
            </a:r>
            <a:endParaRPr lang="en-US"/>
          </a:p>
          <a:p>
            <a:pPr>
              <a:buSzPts val="2200"/>
            </a:pPr>
            <a:r>
              <a:rPr lang="en-US" dirty="0"/>
              <a:t>Google. (2023). </a:t>
            </a:r>
            <a:r>
              <a:rPr lang="en-US" i="1" dirty="0" err="1"/>
              <a:t>BeyondCorp</a:t>
            </a:r>
            <a:r>
              <a:rPr lang="en-US" i="1" dirty="0"/>
              <a:t>: A new approach to enterprise security</a:t>
            </a:r>
            <a:r>
              <a:rPr lang="en-US" dirty="0"/>
              <a:t>.</a:t>
            </a:r>
            <a:br>
              <a:rPr lang="en-US" dirty="0"/>
            </a:br>
            <a:r>
              <a:rPr lang="en-US" dirty="0"/>
              <a:t> </a:t>
            </a:r>
            <a:r>
              <a:rPr lang="en-US" dirty="0">
                <a:hlinkClick r:id="rId11"/>
              </a:rPr>
              <a:t>https://cloud.google.com/beyondcorp</a:t>
            </a:r>
            <a:endParaRPr lang="en-US"/>
          </a:p>
          <a:p>
            <a:pPr>
              <a:buSzPts val="2200"/>
            </a:pPr>
            <a:r>
              <a:rPr lang="en-US" dirty="0"/>
              <a:t>ISO/IEC. (2022). </a:t>
            </a:r>
            <a:r>
              <a:rPr lang="en-US" i="1" dirty="0"/>
              <a:t>ISO/IEC 27001: Information security management systems</a:t>
            </a:r>
            <a:r>
              <a:rPr lang="en-US" dirty="0"/>
              <a:t>.</a:t>
            </a:r>
            <a:br>
              <a:rPr lang="en-US" dirty="0"/>
            </a:br>
            <a:r>
              <a:rPr lang="en-US" dirty="0"/>
              <a:t> </a:t>
            </a:r>
            <a:r>
              <a:rPr lang="en-US" dirty="0">
                <a:hlinkClick r:id="rId12"/>
              </a:rPr>
              <a:t>https://www.iso.org/isoiec-27001-information-security.html</a:t>
            </a:r>
            <a:endParaRPr lang="en-US"/>
          </a:p>
          <a:p>
            <a:pPr>
              <a:buSzPts val="2200"/>
            </a:pPr>
            <a:r>
              <a:rPr lang="en-US" dirty="0"/>
              <a:t>Open Web Application Security Project (OWASP). (2023). </a:t>
            </a:r>
            <a:r>
              <a:rPr lang="en-US" i="1" dirty="0"/>
              <a:t>OWASP testing guide</a:t>
            </a:r>
            <a:r>
              <a:rPr lang="en-US" dirty="0"/>
              <a:t>.</a:t>
            </a:r>
            <a:br>
              <a:rPr lang="en-US" dirty="0"/>
            </a:br>
            <a:r>
              <a:rPr lang="en-US" dirty="0"/>
              <a:t> </a:t>
            </a:r>
            <a:r>
              <a:rPr lang="en-US" dirty="0">
                <a:hlinkClick r:id="rId13"/>
              </a:rPr>
              <a:t>https://owasp.org/www-project-web-security-testing-guide/</a:t>
            </a:r>
            <a:endParaRPr lang="en-US"/>
          </a:p>
          <a:p>
            <a:pPr marL="1600200" lvl="3" algn="l">
              <a:lnSpc>
                <a:spcPct val="90000"/>
              </a:lnSpc>
              <a:spcBef>
                <a:spcPts val="0"/>
              </a:spcBef>
              <a:spcAft>
                <a:spcPts val="0"/>
              </a:spcAft>
              <a:buClr>
                <a:schemeClr val="lt1"/>
              </a:buClr>
              <a:buSzPts val="2200"/>
            </a:pPr>
            <a:endParaRPr lang="en-US" dirty="0"/>
          </a:p>
        </p:txBody>
      </p:sp>
      <p:pic>
        <p:nvPicPr>
          <p:cNvPr id="239" name="Google Shape;239;p14" descr="Green Pace logo"/>
          <p:cNvPicPr preferRelativeResize="0"/>
          <p:nvPr/>
        </p:nvPicPr>
        <p:blipFill>
          <a:blip r:embed="rId1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customXml/itemProps2.xml><?xml version="1.0" encoding="utf-8"?>
<ds:datastoreItem xmlns:ds="http://schemas.openxmlformats.org/officeDocument/2006/customXml" ds:itemID="{F398236C-7FA9-40C9-B456-AA158A506A32}">
  <ds:schemaRefs>
    <ds:schemaRef ds:uri="http://schemas.microsoft.com/sharepoint/v3/contenttype/forms"/>
  </ds:schemaRefs>
</ds:datastoreItem>
</file>

<file path=customXml/itemProps3.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7</TotalTime>
  <Words>352</Words>
  <Application>Microsoft Office PowerPoint</Application>
  <PresentationFormat>Widescreen</PresentationFormat>
  <Paragraphs>39</Paragraphs>
  <Slides>20</Slides>
  <Notes>14</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Vapor Trail</vt:lpstr>
      <vt:lpstr>Green Pace</vt:lpstr>
      <vt:lpstr>OVERVIEW: DEFENSE IN DEPTH</vt:lpstr>
      <vt:lpstr>THREATS MATRIX</vt:lpstr>
      <vt:lpstr>10 PRINCIPLES</vt:lpstr>
      <vt:lpstr>CODING STANDARDS</vt:lpstr>
      <vt:lpstr>ENCRYPTION POLICIES</vt:lpstr>
      <vt:lpstr>TRIPLE-A POLICIES</vt:lpstr>
      <vt:lpstr>Unit Testing</vt:lpstr>
      <vt:lpstr>Unit Testing </vt:lpstr>
      <vt:lpstr>Unit Testing </vt:lpstr>
      <vt:lpstr>Unit Testing</vt:lpstr>
      <vt:lpstr>Unit Testing</vt:lpstr>
      <vt:lpstr>Unit Testing</vt:lpstr>
      <vt:lpstr>AUTOMATION SUMMARY</vt:lpstr>
      <vt:lpstr>TOOLS</vt:lpstr>
      <vt:lpstr>TOOLS</vt:lpstr>
      <vt:lpstr>RISKS AND BENEFITS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Ankita Koli</cp:lastModifiedBy>
  <cp:revision>255</cp:revision>
  <dcterms:created xsi:type="dcterms:W3CDTF">2020-08-19T17:59:24Z</dcterms:created>
  <dcterms:modified xsi:type="dcterms:W3CDTF">2026-01-31T17:11:33Z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